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9" r:id="rId11"/>
    <p:sldId id="265" r:id="rId12"/>
    <p:sldId id="270" r:id="rId13"/>
    <p:sldId id="271" r:id="rId14"/>
    <p:sldId id="272" r:id="rId15"/>
    <p:sldId id="273" r:id="rId16"/>
    <p:sldId id="266"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422"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098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655A-CE6C-F0F5-6D57-03566AC91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FE170-242F-5111-1536-B0707463BDD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5CBDC8B-6A3E-0FD0-D217-AC5675B5D5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272C08-5F95-8FBA-BB4C-C9DD6757630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27881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7143-ADAA-B561-0455-EFBF560FD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4AE9B-3A28-3407-18AD-FDE19857EEC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5ED1D81-C6D0-CD45-3F3D-9DC14FE995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39144-5F91-4551-05DD-112D8610214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72369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121D33"/>
          </a:solidFill>
          <a:ln/>
        </p:spPr>
        <p:txBody>
          <a:bodyPr/>
          <a:lstStyle/>
          <a:p>
            <a:endParaRPr lang="en-IN"/>
          </a:p>
        </p:txBody>
      </p:sp>
      <p:sp>
        <p:nvSpPr>
          <p:cNvPr id="3" name="Shape 1"/>
          <p:cNvSpPr/>
          <p:nvPr/>
        </p:nvSpPr>
        <p:spPr>
          <a:xfrm>
            <a:off x="10607040" y="4206240"/>
            <a:ext cx="3291840" cy="3291840"/>
          </a:xfrm>
          <a:prstGeom prst="ellipse">
            <a:avLst/>
          </a:prstGeom>
          <a:solidFill>
            <a:srgbClr val="121D33"/>
          </a:solidFill>
          <a:ln/>
        </p:spPr>
        <p:txBody>
          <a:bodyPr/>
          <a:lstStyle/>
          <a:p>
            <a:endParaRPr lang="en-IN"/>
          </a:p>
        </p:txBody>
      </p:sp>
      <p:sp>
        <p:nvSpPr>
          <p:cNvPr id="4" name="Shape 2"/>
          <p:cNvSpPr/>
          <p:nvPr/>
        </p:nvSpPr>
        <p:spPr>
          <a:xfrm>
            <a:off x="-1280160" y="4846320"/>
            <a:ext cx="3291840" cy="3291840"/>
          </a:xfrm>
          <a:prstGeom prst="ellipse">
            <a:avLst/>
          </a:prstGeom>
          <a:solidFill>
            <a:srgbClr val="223257"/>
          </a:solidFill>
          <a:ln/>
        </p:spPr>
        <p:txBody>
          <a:bodyPr/>
          <a:lstStyle/>
          <a:p>
            <a:endParaRPr lang="en-IN"/>
          </a:p>
        </p:txBody>
      </p:sp>
      <p:sp>
        <p:nvSpPr>
          <p:cNvPr id="5" name="Text 3"/>
          <p:cNvSpPr/>
          <p:nvPr/>
        </p:nvSpPr>
        <p:spPr>
          <a:xfrm>
            <a:off x="822960" y="1874520"/>
            <a:ext cx="7315200" cy="365760"/>
          </a:xfrm>
          <a:prstGeom prst="rect">
            <a:avLst/>
          </a:prstGeom>
          <a:noFill/>
          <a:ln/>
        </p:spPr>
        <p:txBody>
          <a:bodyPr wrap="square" rtlCol="0" anchor="ctr"/>
          <a:lstStyle/>
          <a:p>
            <a:pPr marL="0" indent="0">
              <a:buNone/>
            </a:pPr>
            <a:r>
              <a:rPr lang="en-US" sz="1400" b="1" kern="0" spc="300" dirty="0">
                <a:solidFill>
                  <a:srgbClr val="F2994A"/>
                </a:solidFill>
                <a:latin typeface="Calibri" pitchFamily="34" charset="0"/>
                <a:ea typeface="Calibri" pitchFamily="34" charset="-122"/>
                <a:cs typeface="Calibri" pitchFamily="34" charset="-120"/>
              </a:rPr>
              <a:t>DATA ANALYTICS End-To-End PROJECT</a:t>
            </a:r>
            <a:endParaRPr lang="en-US" sz="1400" dirty="0"/>
          </a:p>
        </p:txBody>
      </p:sp>
      <p:sp>
        <p:nvSpPr>
          <p:cNvPr id="6" name="Text 4"/>
          <p:cNvSpPr/>
          <p:nvPr/>
        </p:nvSpPr>
        <p:spPr>
          <a:xfrm>
            <a:off x="777240" y="2286000"/>
            <a:ext cx="9601200" cy="1737360"/>
          </a:xfrm>
          <a:prstGeom prst="rect">
            <a:avLst/>
          </a:prstGeom>
          <a:noFill/>
          <a:ln/>
        </p:spPr>
        <p:txBody>
          <a:bodyPr wrap="square"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ShopNova E-Commerce</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Analytics</a:t>
            </a:r>
            <a:endParaRPr lang="en-US" sz="4600" dirty="0"/>
          </a:p>
        </p:txBody>
      </p:sp>
      <p:sp>
        <p:nvSpPr>
          <p:cNvPr id="7" name="Text 5"/>
          <p:cNvSpPr/>
          <p:nvPr/>
        </p:nvSpPr>
        <p:spPr>
          <a:xfrm>
            <a:off x="822960" y="3977640"/>
            <a:ext cx="8686800" cy="54864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End-to-end sales, customer, product &amp; returns analysis using SQL, Excel, Tableau &amp; Power BI</a:t>
            </a:r>
            <a:endParaRPr lang="en-US" sz="1500" dirty="0"/>
          </a:p>
        </p:txBody>
      </p:sp>
      <p:sp>
        <p:nvSpPr>
          <p:cNvPr id="8" name="Shape 6"/>
          <p:cNvSpPr/>
          <p:nvPr/>
        </p:nvSpPr>
        <p:spPr>
          <a:xfrm>
            <a:off x="822960" y="4892040"/>
            <a:ext cx="1234440" cy="457200"/>
          </a:xfrm>
          <a:prstGeom prst="roundRect">
            <a:avLst>
              <a:gd name="adj" fmla="val 16000"/>
            </a:avLst>
          </a:prstGeom>
          <a:solidFill>
            <a:srgbClr val="26385F"/>
          </a:solidFill>
          <a:ln/>
        </p:spPr>
        <p:txBody>
          <a:bodyPr/>
          <a:lstStyle/>
          <a:p>
            <a:endParaRPr lang="en-IN"/>
          </a:p>
        </p:txBody>
      </p:sp>
      <p:sp>
        <p:nvSpPr>
          <p:cNvPr id="9" name="Text 7"/>
          <p:cNvSpPr/>
          <p:nvPr/>
        </p:nvSpPr>
        <p:spPr>
          <a:xfrm>
            <a:off x="822960" y="4892040"/>
            <a:ext cx="1234440" cy="457200"/>
          </a:xfrm>
          <a:prstGeom prst="rect">
            <a:avLst/>
          </a:prstGeom>
          <a:solidFill>
            <a:schemeClr val="accent2">
              <a:lumMod val="75000"/>
            </a:schemeClr>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SQL</a:t>
            </a:r>
            <a:endParaRPr lang="en-US" sz="1200" dirty="0"/>
          </a:p>
        </p:txBody>
      </p:sp>
      <p:sp>
        <p:nvSpPr>
          <p:cNvPr id="10" name="Shape 8"/>
          <p:cNvSpPr/>
          <p:nvPr/>
        </p:nvSpPr>
        <p:spPr>
          <a:xfrm>
            <a:off x="2258568" y="4892040"/>
            <a:ext cx="1234440" cy="457200"/>
          </a:xfrm>
          <a:prstGeom prst="roundRect">
            <a:avLst>
              <a:gd name="adj" fmla="val 16000"/>
            </a:avLst>
          </a:prstGeom>
          <a:solidFill>
            <a:srgbClr val="26385F"/>
          </a:solidFill>
          <a:ln/>
        </p:spPr>
        <p:txBody>
          <a:bodyPr/>
          <a:lstStyle/>
          <a:p>
            <a:endParaRPr lang="en-IN"/>
          </a:p>
        </p:txBody>
      </p:sp>
      <p:sp>
        <p:nvSpPr>
          <p:cNvPr id="11" name="Text 9"/>
          <p:cNvSpPr/>
          <p:nvPr/>
        </p:nvSpPr>
        <p:spPr>
          <a:xfrm>
            <a:off x="2258568" y="4892040"/>
            <a:ext cx="1234440" cy="457200"/>
          </a:xfrm>
          <a:prstGeom prst="rect">
            <a:avLst/>
          </a:prstGeom>
          <a:solidFill>
            <a:schemeClr val="accent2">
              <a:lumMod val="75000"/>
            </a:schemeClr>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EXCEL</a:t>
            </a:r>
            <a:endParaRPr lang="en-US" sz="1200" dirty="0"/>
          </a:p>
        </p:txBody>
      </p:sp>
      <p:sp>
        <p:nvSpPr>
          <p:cNvPr id="12" name="Shape 10"/>
          <p:cNvSpPr/>
          <p:nvPr/>
        </p:nvSpPr>
        <p:spPr>
          <a:xfrm>
            <a:off x="3694176" y="4892040"/>
            <a:ext cx="1234440" cy="457200"/>
          </a:xfrm>
          <a:prstGeom prst="roundRect">
            <a:avLst>
              <a:gd name="adj" fmla="val 16000"/>
            </a:avLst>
          </a:prstGeom>
          <a:solidFill>
            <a:schemeClr val="accent2">
              <a:lumMod val="75000"/>
            </a:schemeClr>
          </a:solidFill>
          <a:ln/>
        </p:spPr>
        <p:txBody>
          <a:bodyPr/>
          <a:lstStyle/>
          <a:p>
            <a:endParaRPr lang="en-IN"/>
          </a:p>
        </p:txBody>
      </p:sp>
      <p:sp>
        <p:nvSpPr>
          <p:cNvPr id="13" name="Text 11"/>
          <p:cNvSpPr/>
          <p:nvPr/>
        </p:nvSpPr>
        <p:spPr>
          <a:xfrm>
            <a:off x="3694176" y="4892040"/>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TABLEAU</a:t>
            </a:r>
            <a:endParaRPr lang="en-US" sz="1200" dirty="0"/>
          </a:p>
        </p:txBody>
      </p:sp>
      <p:sp>
        <p:nvSpPr>
          <p:cNvPr id="14" name="Shape 12"/>
          <p:cNvSpPr/>
          <p:nvPr/>
        </p:nvSpPr>
        <p:spPr>
          <a:xfrm>
            <a:off x="5129784" y="4892040"/>
            <a:ext cx="1234440" cy="457200"/>
          </a:xfrm>
          <a:prstGeom prst="roundRect">
            <a:avLst>
              <a:gd name="adj" fmla="val 16000"/>
            </a:avLst>
          </a:prstGeom>
          <a:solidFill>
            <a:srgbClr val="F2994A"/>
          </a:solidFill>
          <a:ln/>
        </p:spPr>
        <p:txBody>
          <a:bodyPr/>
          <a:lstStyle/>
          <a:p>
            <a:endParaRPr lang="en-IN"/>
          </a:p>
        </p:txBody>
      </p:sp>
      <p:sp>
        <p:nvSpPr>
          <p:cNvPr id="15" name="Text 13"/>
          <p:cNvSpPr/>
          <p:nvPr/>
        </p:nvSpPr>
        <p:spPr>
          <a:xfrm>
            <a:off x="5129784" y="4892040"/>
            <a:ext cx="1234440" cy="457200"/>
          </a:xfrm>
          <a:prstGeom prst="rect">
            <a:avLst/>
          </a:prstGeom>
          <a:solidFill>
            <a:schemeClr val="accent2">
              <a:lumMod val="75000"/>
            </a:schemeClr>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p:txBody>
      </p:sp>
      <p:sp>
        <p:nvSpPr>
          <p:cNvPr id="16" name="Text 14"/>
          <p:cNvSpPr/>
          <p:nvPr/>
        </p:nvSpPr>
        <p:spPr>
          <a:xfrm>
            <a:off x="822960" y="6172200"/>
            <a:ext cx="7315200" cy="320040"/>
          </a:xfrm>
          <a:prstGeom prst="rect">
            <a:avLst/>
          </a:prstGeom>
          <a:noFill/>
          <a:ln/>
        </p:spPr>
        <p:txBody>
          <a:bodyPr wrap="square" rtlCol="0" anchor="ctr"/>
          <a:lstStyle/>
          <a:p>
            <a:pPr marL="0" indent="0">
              <a:buNone/>
            </a:pPr>
            <a:r>
              <a:rPr lang="en-US" sz="1100" dirty="0">
                <a:solidFill>
                  <a:srgbClr val="8B95A5"/>
                </a:solidFill>
                <a:latin typeface="Calibri" pitchFamily="34" charset="0"/>
                <a:ea typeface="Calibri" pitchFamily="34" charset="-122"/>
                <a:cs typeface="Calibri" pitchFamily="34" charset="-120"/>
              </a:rPr>
              <a:t>Group Presentation  - 6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What We'll Cover Today</a:t>
            </a:r>
            <a:endParaRPr lang="en-US" sz="3000" dirty="0"/>
          </a:p>
        </p:txBody>
      </p:sp>
      <p:sp>
        <p:nvSpPr>
          <p:cNvPr id="4" name="Text 2"/>
          <p:cNvSpPr/>
          <p:nvPr/>
        </p:nvSpPr>
        <p:spPr>
          <a:xfrm>
            <a:off x="548640" y="1682496"/>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325880" y="1682496"/>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Project Overview</a:t>
            </a:r>
            <a:endParaRPr lang="en-US" sz="1500" dirty="0"/>
          </a:p>
        </p:txBody>
      </p:sp>
      <p:sp>
        <p:nvSpPr>
          <p:cNvPr id="6" name="Text 4"/>
          <p:cNvSpPr/>
          <p:nvPr/>
        </p:nvSpPr>
        <p:spPr>
          <a:xfrm>
            <a:off x="1325880" y="2029968"/>
            <a:ext cx="425196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Business context, objective &amp; scope of the ShopNova analysis</a:t>
            </a:r>
            <a:endParaRPr lang="en-US" sz="1100" dirty="0"/>
          </a:p>
        </p:txBody>
      </p:sp>
      <p:sp>
        <p:nvSpPr>
          <p:cNvPr id="7" name="Text 5"/>
          <p:cNvSpPr/>
          <p:nvPr/>
        </p:nvSpPr>
        <p:spPr>
          <a:xfrm>
            <a:off x="548640" y="2852928"/>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1325880" y="2852928"/>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Data &amp; Tools</a:t>
            </a:r>
            <a:endParaRPr lang="en-US" sz="1500" dirty="0"/>
          </a:p>
        </p:txBody>
      </p:sp>
      <p:sp>
        <p:nvSpPr>
          <p:cNvPr id="9" name="Text 7"/>
          <p:cNvSpPr/>
          <p:nvPr/>
        </p:nvSpPr>
        <p:spPr>
          <a:xfrm>
            <a:off x="1325880" y="3200400"/>
            <a:ext cx="425196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5 linked datasets and the analytics stack used end-to-end</a:t>
            </a:r>
            <a:endParaRPr lang="en-US" sz="1100" dirty="0"/>
          </a:p>
        </p:txBody>
      </p:sp>
      <p:sp>
        <p:nvSpPr>
          <p:cNvPr id="10" name="Text 8"/>
          <p:cNvSpPr/>
          <p:nvPr/>
        </p:nvSpPr>
        <p:spPr>
          <a:xfrm>
            <a:off x="548640" y="4023360"/>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325880" y="4023360"/>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SQL Analysis</a:t>
            </a:r>
            <a:endParaRPr lang="en-US" sz="1500" dirty="0"/>
          </a:p>
        </p:txBody>
      </p:sp>
      <p:sp>
        <p:nvSpPr>
          <p:cNvPr id="12" name="Text 10"/>
          <p:cNvSpPr/>
          <p:nvPr/>
        </p:nvSpPr>
        <p:spPr>
          <a:xfrm>
            <a:off x="1325880" y="4370832"/>
            <a:ext cx="425196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Query-driven exploration across revenue, orders &amp; customers</a:t>
            </a:r>
            <a:endParaRPr lang="en-US" sz="1100" dirty="0"/>
          </a:p>
        </p:txBody>
      </p:sp>
      <p:sp>
        <p:nvSpPr>
          <p:cNvPr id="13" name="Text 11"/>
          <p:cNvSpPr/>
          <p:nvPr/>
        </p:nvSpPr>
        <p:spPr>
          <a:xfrm>
            <a:off x="548640" y="5193792"/>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1325880" y="5193792"/>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Excel Dashboards</a:t>
            </a:r>
            <a:endParaRPr lang="en-US" sz="1500" dirty="0"/>
          </a:p>
        </p:txBody>
      </p:sp>
      <p:sp>
        <p:nvSpPr>
          <p:cNvPr id="15" name="Text 13"/>
          <p:cNvSpPr/>
          <p:nvPr/>
        </p:nvSpPr>
        <p:spPr>
          <a:xfrm>
            <a:off x="1325880" y="5541264"/>
            <a:ext cx="425196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Executive, Customer, Product &amp; Returns dashboards</a:t>
            </a:r>
            <a:endParaRPr lang="en-US" sz="1100" dirty="0"/>
          </a:p>
        </p:txBody>
      </p:sp>
      <p:sp>
        <p:nvSpPr>
          <p:cNvPr id="16" name="Text 14"/>
          <p:cNvSpPr/>
          <p:nvPr/>
        </p:nvSpPr>
        <p:spPr>
          <a:xfrm>
            <a:off x="5989320" y="1682496"/>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6766560" y="1682496"/>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Tableau Dashboards</a:t>
            </a:r>
            <a:endParaRPr lang="en-US" sz="1500" dirty="0"/>
          </a:p>
        </p:txBody>
      </p:sp>
      <p:sp>
        <p:nvSpPr>
          <p:cNvPr id="18" name="Text 16"/>
          <p:cNvSpPr/>
          <p:nvPr/>
        </p:nvSpPr>
        <p:spPr>
          <a:xfrm>
            <a:off x="6766560" y="2029968"/>
            <a:ext cx="425196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Interactive marketing &amp; campaign performance views</a:t>
            </a:r>
            <a:endParaRPr lang="en-US" sz="1100" dirty="0"/>
          </a:p>
        </p:txBody>
      </p:sp>
      <p:sp>
        <p:nvSpPr>
          <p:cNvPr id="19" name="Text 17"/>
          <p:cNvSpPr/>
          <p:nvPr/>
        </p:nvSpPr>
        <p:spPr>
          <a:xfrm>
            <a:off x="5989320" y="2852928"/>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06</a:t>
            </a:r>
            <a:endParaRPr lang="en-US" sz="3000" dirty="0"/>
          </a:p>
        </p:txBody>
      </p:sp>
      <p:sp>
        <p:nvSpPr>
          <p:cNvPr id="20" name="Text 18"/>
          <p:cNvSpPr/>
          <p:nvPr/>
        </p:nvSpPr>
        <p:spPr>
          <a:xfrm>
            <a:off x="6766560" y="2852928"/>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Power BI</a:t>
            </a:r>
            <a:endParaRPr lang="en-US" sz="1500" dirty="0"/>
          </a:p>
        </p:txBody>
      </p:sp>
      <p:sp>
        <p:nvSpPr>
          <p:cNvPr id="21" name="Text 19"/>
          <p:cNvSpPr/>
          <p:nvPr/>
        </p:nvSpPr>
        <p:spPr>
          <a:xfrm>
            <a:off x="6766560" y="3200400"/>
            <a:ext cx="4251960" cy="548640"/>
          </a:xfrm>
          <a:prstGeom prst="rect">
            <a:avLst/>
          </a:prstGeom>
          <a:noFill/>
          <a:ln/>
        </p:spPr>
        <p:txBody>
          <a:bodyPr wrap="square" rtlCol="0" anchor="ctr"/>
          <a:lstStyle/>
          <a:p>
            <a:pPr marL="0" indent="0">
              <a:buNone/>
            </a:pPr>
            <a:endParaRPr lang="en-US" sz="1100" dirty="0"/>
          </a:p>
        </p:txBody>
      </p:sp>
      <p:sp>
        <p:nvSpPr>
          <p:cNvPr id="22" name="Text 20"/>
          <p:cNvSpPr/>
          <p:nvPr/>
        </p:nvSpPr>
        <p:spPr>
          <a:xfrm>
            <a:off x="5989320" y="4023360"/>
            <a:ext cx="822960" cy="731520"/>
          </a:xfrm>
          <a:prstGeom prst="rect">
            <a:avLst/>
          </a:prstGeom>
          <a:noFill/>
          <a:ln/>
        </p:spPr>
        <p:txBody>
          <a:bodyPr wrap="square"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07</a:t>
            </a:r>
            <a:endParaRPr lang="en-US" sz="3000" dirty="0"/>
          </a:p>
        </p:txBody>
      </p:sp>
      <p:sp>
        <p:nvSpPr>
          <p:cNvPr id="23" name="Text 21"/>
          <p:cNvSpPr/>
          <p:nvPr/>
        </p:nvSpPr>
        <p:spPr>
          <a:xfrm>
            <a:off x="6766560" y="4023360"/>
            <a:ext cx="42519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Key Insights</a:t>
            </a:r>
            <a:endParaRPr lang="en-US" sz="1500" dirty="0"/>
          </a:p>
        </p:txBody>
      </p:sp>
      <p:sp>
        <p:nvSpPr>
          <p:cNvPr id="24" name="Text 22"/>
          <p:cNvSpPr/>
          <p:nvPr/>
        </p:nvSpPr>
        <p:spPr>
          <a:xfrm>
            <a:off x="6766560" y="4370832"/>
            <a:ext cx="4251960" cy="548640"/>
          </a:xfrm>
          <a:prstGeom prst="rect">
            <a:avLst/>
          </a:prstGeom>
          <a:noFill/>
          <a:ln/>
        </p:spPr>
        <p:txBody>
          <a:bodyPr wrap="square" rtlCol="0" anchor="ctr"/>
          <a:lstStyle/>
          <a:p>
            <a:r>
              <a:rPr lang="en-US" sz="1100" dirty="0">
                <a:solidFill>
                  <a:srgbClr val="4A5568"/>
                </a:solidFill>
                <a:latin typeface="Calibri" pitchFamily="34" charset="0"/>
                <a:ea typeface="Calibri" pitchFamily="34" charset="-122"/>
                <a:cs typeface="Calibri" pitchFamily="34" charset="-120"/>
              </a:rPr>
              <a:t>What the data tells us — and what we recommend</a:t>
            </a:r>
            <a:endParaRPr lang="en-US" sz="1100" dirty="0"/>
          </a:p>
          <a:p>
            <a:pPr marL="0" indent="0">
              <a:buNone/>
            </a:pPr>
            <a:endParaRPr lang="en-US" sz="1100" dirty="0"/>
          </a:p>
        </p:txBody>
      </p:sp>
      <p:sp>
        <p:nvSpPr>
          <p:cNvPr id="25" name="Shape 23"/>
          <p:cNvSpPr/>
          <p:nvPr/>
        </p:nvSpPr>
        <p:spPr>
          <a:xfrm>
            <a:off x="5806440" y="1691640"/>
            <a:ext cx="0" cy="4434840"/>
          </a:xfrm>
          <a:prstGeom prst="line">
            <a:avLst/>
          </a:prstGeom>
          <a:noFill/>
          <a:ln w="12700">
            <a:solidFill>
              <a:srgbClr val="E2E8F0"/>
            </a:solidFill>
            <a:prstDash val="solid"/>
          </a:ln>
        </p:spPr>
        <p:txBody>
          <a:bodyPr/>
          <a:lstStyle/>
          <a:p>
            <a:endParaRPr lang="en-IN"/>
          </a:p>
        </p:txBody>
      </p:sp>
      <p:sp>
        <p:nvSpPr>
          <p:cNvPr id="26" name="Text 24"/>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Text 25"/>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2</a:t>
            </a:r>
            <a:endParaRPr lang="en-US" sz="900" dirty="0"/>
          </a:p>
        </p:txBody>
      </p:sp>
      <p:sp>
        <p:nvSpPr>
          <p:cNvPr id="29" name="Text 22">
            <a:extLst>
              <a:ext uri="{FF2B5EF4-FFF2-40B4-BE49-F238E27FC236}">
                <a16:creationId xmlns:a16="http://schemas.microsoft.com/office/drawing/2014/main" id="{2E8B0355-9873-BB20-07BF-DDA667F7176A}"/>
              </a:ext>
            </a:extLst>
          </p:cNvPr>
          <p:cNvSpPr/>
          <p:nvPr/>
        </p:nvSpPr>
        <p:spPr>
          <a:xfrm>
            <a:off x="6766560" y="3364992"/>
            <a:ext cx="425196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Interactive KPI’s, visualizations, filters and Dashboards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PROJECT OVERVIEW</a:t>
            </a:r>
            <a:endParaRPr lang="en-US" sz="1250" dirty="0"/>
          </a:p>
        </p:txBody>
      </p:sp>
      <p:sp>
        <p:nvSpPr>
          <p:cNvPr id="3" name="Text 1"/>
          <p:cNvSpPr/>
          <p:nvPr/>
        </p:nvSpPr>
        <p:spPr>
          <a:xfrm>
            <a:off x="457200" y="825214"/>
            <a:ext cx="7863840" cy="640080"/>
          </a:xfrm>
          <a:prstGeom prst="rect">
            <a:avLst/>
          </a:prstGeom>
          <a:noFill/>
          <a:ln/>
        </p:spPr>
        <p:txBody>
          <a:bodyPr wrap="square"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Turning ShopNova's Raw Order Data</a:t>
            </a:r>
            <a:endParaRPr lang="en-US" sz="2700" dirty="0"/>
          </a:p>
          <a:p>
            <a:pPr marL="0" indent="0">
              <a:buNone/>
            </a:pPr>
            <a:r>
              <a:rPr lang="en-US" sz="2700" b="1" dirty="0">
                <a:solidFill>
                  <a:srgbClr val="1B2A4A"/>
                </a:solidFill>
                <a:latin typeface="Cambria" pitchFamily="34" charset="0"/>
                <a:ea typeface="Cambria" pitchFamily="34" charset="-122"/>
                <a:cs typeface="Cambria" pitchFamily="34" charset="-120"/>
              </a:rPr>
              <a:t>into Business Decisions</a:t>
            </a:r>
            <a:endParaRPr lang="en-US" sz="2700" dirty="0"/>
          </a:p>
        </p:txBody>
      </p:sp>
      <p:sp>
        <p:nvSpPr>
          <p:cNvPr id="4" name="Text 2"/>
          <p:cNvSpPr/>
          <p:nvPr/>
        </p:nvSpPr>
        <p:spPr>
          <a:xfrm>
            <a:off x="548640" y="1892808"/>
            <a:ext cx="6858000" cy="1783080"/>
          </a:xfrm>
          <a:prstGeom prst="rect">
            <a:avLst/>
          </a:prstGeom>
          <a:noFill/>
          <a:ln/>
        </p:spPr>
        <p:txBody>
          <a:bodyPr wrap="square" rtlCol="0" anchor="ctr"/>
          <a:lstStyle/>
          <a:p>
            <a:pPr algn="just">
              <a:lnSpc>
                <a:spcPct val="150000"/>
              </a:lnSpc>
            </a:pPr>
            <a:r>
              <a:rPr lang="en-IN" sz="1350" dirty="0">
                <a:solidFill>
                  <a:srgbClr val="4A5568"/>
                </a:solidFill>
                <a:latin typeface="Calibri" pitchFamily="34" charset="0"/>
                <a:ea typeface="Calibri" pitchFamily="34" charset="-122"/>
                <a:cs typeface="Calibri" pitchFamily="34" charset="-120"/>
              </a:rPr>
              <a:t>ShopNova is an end-to-end e-commerce sales analytics project developed using Excel, SQL, Tableau, and Power BI to analyse sales performance, customer behavior, product performance, marketing campaigns, and returns. The project covers 7,562 orders, 800 customers, 87 SKUs, and 108 marketing campaigns across January–December 2023, with interactive dashboards created to identify key trends and generate actionable business insights.</a:t>
            </a:r>
          </a:p>
          <a:p>
            <a:pPr marL="0" indent="0">
              <a:lnSpc>
                <a:spcPct val="125000"/>
              </a:lnSpc>
              <a:buNone/>
            </a:pPr>
            <a:endParaRPr lang="en-US" sz="1350" dirty="0"/>
          </a:p>
        </p:txBody>
      </p:sp>
      <p:sp>
        <p:nvSpPr>
          <p:cNvPr id="5" name="Shape 3"/>
          <p:cNvSpPr/>
          <p:nvPr/>
        </p:nvSpPr>
        <p:spPr>
          <a:xfrm>
            <a:off x="548640" y="3703320"/>
            <a:ext cx="457200" cy="457200"/>
          </a:xfrm>
          <a:prstGeom prst="ellipse">
            <a:avLst/>
          </a:prstGeom>
          <a:solidFill>
            <a:srgbClr val="F2994A"/>
          </a:solidFill>
          <a:ln/>
        </p:spPr>
        <p:txBody>
          <a:bodyPr/>
          <a:lstStyle/>
          <a:p>
            <a:endParaRPr lang="en-IN"/>
          </a:p>
        </p:txBody>
      </p:sp>
      <p:pic>
        <p:nvPicPr>
          <p:cNvPr id="6" name="Image 0" descr="icons/target.png"/>
          <p:cNvPicPr>
            <a:picLocks noChangeAspect="1"/>
          </p:cNvPicPr>
          <p:nvPr/>
        </p:nvPicPr>
        <p:blipFill>
          <a:blip r:embed="rId3"/>
          <a:stretch>
            <a:fillRect/>
          </a:stretch>
        </p:blipFill>
        <p:spPr>
          <a:xfrm>
            <a:off x="651510" y="3806190"/>
            <a:ext cx="251460" cy="251460"/>
          </a:xfrm>
          <a:prstGeom prst="rect">
            <a:avLst/>
          </a:prstGeom>
        </p:spPr>
      </p:pic>
      <p:sp>
        <p:nvSpPr>
          <p:cNvPr id="7" name="Text 4"/>
          <p:cNvSpPr/>
          <p:nvPr/>
        </p:nvSpPr>
        <p:spPr>
          <a:xfrm>
            <a:off x="1143000" y="3657600"/>
            <a:ext cx="621792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Objective</a:t>
            </a:r>
            <a:endParaRPr lang="en-US" sz="1350" dirty="0"/>
          </a:p>
        </p:txBody>
      </p:sp>
      <p:sp>
        <p:nvSpPr>
          <p:cNvPr id="8" name="Text 5"/>
          <p:cNvSpPr/>
          <p:nvPr/>
        </p:nvSpPr>
        <p:spPr>
          <a:xfrm>
            <a:off x="1143000" y="3959352"/>
            <a:ext cx="6675120" cy="457200"/>
          </a:xfrm>
          <a:prstGeom prst="rect">
            <a:avLst/>
          </a:prstGeom>
          <a:noFill/>
          <a:ln/>
        </p:spPr>
        <p:txBody>
          <a:bodyPr wrap="square" rtlCol="0" anchor="ctr"/>
          <a:lstStyle/>
          <a:p>
            <a:r>
              <a:rPr lang="en-IN" sz="1150" dirty="0">
                <a:solidFill>
                  <a:srgbClr val="4A5568"/>
                </a:solidFill>
                <a:latin typeface="Calibri" pitchFamily="34" charset="0"/>
                <a:ea typeface="Calibri" pitchFamily="34" charset="-122"/>
                <a:cs typeface="Calibri" pitchFamily="34" charset="-120"/>
              </a:rPr>
              <a:t>Analyse e-commerce data to identify sales trends, customer behavior, and key business performance drivers.</a:t>
            </a:r>
            <a:endParaRPr lang="en-US" sz="1150" dirty="0">
              <a:solidFill>
                <a:srgbClr val="4A5568"/>
              </a:solidFill>
              <a:latin typeface="Calibri" pitchFamily="34" charset="0"/>
              <a:ea typeface="Calibri" pitchFamily="34" charset="-122"/>
              <a:cs typeface="Calibri" pitchFamily="34" charset="-120"/>
            </a:endParaRPr>
          </a:p>
        </p:txBody>
      </p:sp>
      <p:sp>
        <p:nvSpPr>
          <p:cNvPr id="9" name="Shape 6"/>
          <p:cNvSpPr/>
          <p:nvPr/>
        </p:nvSpPr>
        <p:spPr>
          <a:xfrm>
            <a:off x="548640" y="4572000"/>
            <a:ext cx="457200" cy="457200"/>
          </a:xfrm>
          <a:prstGeom prst="ellipse">
            <a:avLst/>
          </a:prstGeom>
          <a:solidFill>
            <a:srgbClr val="F2994A"/>
          </a:solidFill>
          <a:ln/>
        </p:spPr>
        <p:txBody>
          <a:bodyPr/>
          <a:lstStyle/>
          <a:p>
            <a:endParaRPr lang="en-IN"/>
          </a:p>
        </p:txBody>
      </p:sp>
      <p:pic>
        <p:nvPicPr>
          <p:cNvPr id="10" name="Image 1" descr="icons/barchart.png"/>
          <p:cNvPicPr>
            <a:picLocks noChangeAspect="1"/>
          </p:cNvPicPr>
          <p:nvPr/>
        </p:nvPicPr>
        <p:blipFill>
          <a:blip r:embed="rId4"/>
          <a:stretch>
            <a:fillRect/>
          </a:stretch>
        </p:blipFill>
        <p:spPr>
          <a:xfrm>
            <a:off x="651510" y="4674870"/>
            <a:ext cx="251460" cy="251460"/>
          </a:xfrm>
          <a:prstGeom prst="rect">
            <a:avLst/>
          </a:prstGeom>
        </p:spPr>
      </p:pic>
      <p:sp>
        <p:nvSpPr>
          <p:cNvPr id="11" name="Text 7"/>
          <p:cNvSpPr/>
          <p:nvPr/>
        </p:nvSpPr>
        <p:spPr>
          <a:xfrm>
            <a:off x="1143000" y="4526280"/>
            <a:ext cx="621792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Approach</a:t>
            </a:r>
            <a:endParaRPr lang="en-US" sz="1350" dirty="0"/>
          </a:p>
        </p:txBody>
      </p:sp>
      <p:sp>
        <p:nvSpPr>
          <p:cNvPr id="12" name="Text 8"/>
          <p:cNvSpPr/>
          <p:nvPr/>
        </p:nvSpPr>
        <p:spPr>
          <a:xfrm>
            <a:off x="1143000" y="4828032"/>
            <a:ext cx="6606702" cy="457200"/>
          </a:xfrm>
          <a:prstGeom prst="rect">
            <a:avLst/>
          </a:prstGeom>
          <a:noFill/>
          <a:ln/>
        </p:spPr>
        <p:txBody>
          <a:bodyPr wrap="square" rtlCol="0" anchor="ctr"/>
          <a:lstStyle/>
          <a:p>
            <a:pPr>
              <a:lnSpc>
                <a:spcPct val="150000"/>
              </a:lnSpc>
            </a:pPr>
            <a:r>
              <a:rPr lang="en-IN" sz="1150" dirty="0">
                <a:solidFill>
                  <a:srgbClr val="4A5568"/>
                </a:solidFill>
                <a:latin typeface="Calibri" pitchFamily="34" charset="0"/>
                <a:ea typeface="Calibri" pitchFamily="34" charset="-122"/>
                <a:cs typeface="Calibri" pitchFamily="34" charset="-120"/>
              </a:rPr>
              <a:t>Clean, transform, and </a:t>
            </a:r>
            <a:r>
              <a:rPr lang="en-IN" sz="1150" dirty="0" err="1">
                <a:solidFill>
                  <a:srgbClr val="4A5568"/>
                </a:solidFill>
                <a:latin typeface="Calibri" pitchFamily="34" charset="0"/>
                <a:ea typeface="Calibri" pitchFamily="34" charset="-122"/>
                <a:cs typeface="Calibri" pitchFamily="34" charset="-120"/>
              </a:rPr>
              <a:t>analyze</a:t>
            </a:r>
            <a:r>
              <a:rPr lang="en-IN" sz="1150" dirty="0">
                <a:solidFill>
                  <a:srgbClr val="4A5568"/>
                </a:solidFill>
                <a:latin typeface="Calibri" pitchFamily="34" charset="0"/>
                <a:ea typeface="Calibri" pitchFamily="34" charset="-122"/>
                <a:cs typeface="Calibri" pitchFamily="34" charset="-120"/>
              </a:rPr>
              <a:t> data using Excel, SQL, Tableau, and Power BI to create interactive dashboards and KPIs.</a:t>
            </a:r>
            <a:endParaRPr lang="en-US" sz="1150" dirty="0">
              <a:solidFill>
                <a:srgbClr val="4A5568"/>
              </a:solidFill>
              <a:latin typeface="Calibri" pitchFamily="34" charset="0"/>
              <a:ea typeface="Calibri" pitchFamily="34" charset="-122"/>
              <a:cs typeface="Calibri" pitchFamily="34" charset="-120"/>
            </a:endParaRPr>
          </a:p>
        </p:txBody>
      </p:sp>
      <p:sp>
        <p:nvSpPr>
          <p:cNvPr id="13" name="Shape 9"/>
          <p:cNvSpPr/>
          <p:nvPr/>
        </p:nvSpPr>
        <p:spPr>
          <a:xfrm>
            <a:off x="548640" y="5440680"/>
            <a:ext cx="457200" cy="457200"/>
          </a:xfrm>
          <a:prstGeom prst="ellipse">
            <a:avLst/>
          </a:prstGeom>
          <a:solidFill>
            <a:srgbClr val="F2994A"/>
          </a:solidFill>
          <a:ln/>
        </p:spPr>
        <p:txBody>
          <a:bodyPr/>
          <a:lstStyle/>
          <a:p>
            <a:endParaRPr lang="en-IN"/>
          </a:p>
        </p:txBody>
      </p:sp>
      <p:pic>
        <p:nvPicPr>
          <p:cNvPr id="14" name="Image 2" descr="icons/check.png"/>
          <p:cNvPicPr>
            <a:picLocks noChangeAspect="1"/>
          </p:cNvPicPr>
          <p:nvPr/>
        </p:nvPicPr>
        <p:blipFill>
          <a:blip r:embed="rId5"/>
          <a:stretch>
            <a:fillRect/>
          </a:stretch>
        </p:blipFill>
        <p:spPr>
          <a:xfrm>
            <a:off x="651510" y="5543550"/>
            <a:ext cx="251460" cy="251460"/>
          </a:xfrm>
          <a:prstGeom prst="rect">
            <a:avLst/>
          </a:prstGeom>
        </p:spPr>
      </p:pic>
      <p:sp>
        <p:nvSpPr>
          <p:cNvPr id="15" name="Text 10"/>
          <p:cNvSpPr/>
          <p:nvPr/>
        </p:nvSpPr>
        <p:spPr>
          <a:xfrm>
            <a:off x="1143000" y="5394960"/>
            <a:ext cx="621792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Outcome</a:t>
            </a:r>
            <a:endParaRPr lang="en-US" sz="1350" dirty="0"/>
          </a:p>
        </p:txBody>
      </p:sp>
      <p:sp>
        <p:nvSpPr>
          <p:cNvPr id="16" name="Text 11"/>
          <p:cNvSpPr/>
          <p:nvPr/>
        </p:nvSpPr>
        <p:spPr>
          <a:xfrm>
            <a:off x="1143000" y="5696712"/>
            <a:ext cx="6309360" cy="457200"/>
          </a:xfrm>
          <a:prstGeom prst="rect">
            <a:avLst/>
          </a:prstGeom>
          <a:noFill/>
          <a:ln/>
        </p:spPr>
        <p:txBody>
          <a:bodyPr wrap="square" rtlCol="0" anchor="ctr"/>
          <a:lstStyle/>
          <a:p>
            <a:pPr>
              <a:lnSpc>
                <a:spcPct val="150000"/>
              </a:lnSpc>
            </a:pPr>
            <a:r>
              <a:rPr lang="en-IN" sz="1150" dirty="0">
                <a:solidFill>
                  <a:srgbClr val="4A5568"/>
                </a:solidFill>
                <a:latin typeface="Calibri" pitchFamily="34" charset="0"/>
                <a:ea typeface="Calibri" pitchFamily="34" charset="-122"/>
                <a:cs typeface="Calibri" pitchFamily="34" charset="-120"/>
              </a:rPr>
              <a:t>Generated actionable insights to improve sales performance, customer engagement, product strategy, and marketing effectiveness.</a:t>
            </a:r>
            <a:endParaRPr lang="en-US" sz="1150" dirty="0">
              <a:solidFill>
                <a:srgbClr val="4A5568"/>
              </a:solidFill>
              <a:latin typeface="Calibri" pitchFamily="34" charset="0"/>
              <a:ea typeface="Calibri" pitchFamily="34" charset="-122"/>
              <a:cs typeface="Calibri" pitchFamily="34" charset="-120"/>
            </a:endParaRPr>
          </a:p>
        </p:txBody>
      </p:sp>
      <p:sp>
        <p:nvSpPr>
          <p:cNvPr id="17" name="Shape 12"/>
          <p:cNvSpPr/>
          <p:nvPr/>
        </p:nvSpPr>
        <p:spPr>
          <a:xfrm>
            <a:off x="7818120" y="1737360"/>
            <a:ext cx="3840480" cy="4480560"/>
          </a:xfrm>
          <a:prstGeom prst="roundRect">
            <a:avLst>
              <a:gd name="adj" fmla="val 2381"/>
            </a:avLst>
          </a:prstGeom>
          <a:solidFill>
            <a:srgbClr val="1B2A4A"/>
          </a:solidFill>
          <a:ln/>
        </p:spPr>
        <p:txBody>
          <a:bodyPr/>
          <a:lstStyle/>
          <a:p>
            <a:endParaRPr lang="en-IN"/>
          </a:p>
        </p:txBody>
      </p:sp>
      <p:sp>
        <p:nvSpPr>
          <p:cNvPr id="18" name="Text 13"/>
          <p:cNvSpPr/>
          <p:nvPr/>
        </p:nvSpPr>
        <p:spPr>
          <a:xfrm>
            <a:off x="8183880" y="2011680"/>
            <a:ext cx="3108960" cy="32004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PROJECT SCOPE</a:t>
            </a:r>
            <a:endParaRPr lang="en-US" sz="1100" dirty="0"/>
          </a:p>
        </p:txBody>
      </p:sp>
      <p:sp>
        <p:nvSpPr>
          <p:cNvPr id="19" name="Text 14"/>
          <p:cNvSpPr/>
          <p:nvPr/>
        </p:nvSpPr>
        <p:spPr>
          <a:xfrm>
            <a:off x="8183880" y="2514600"/>
            <a:ext cx="3108960" cy="4114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7,562</a:t>
            </a:r>
            <a:endParaRPr lang="en-US" sz="2200" dirty="0"/>
          </a:p>
        </p:txBody>
      </p:sp>
      <p:sp>
        <p:nvSpPr>
          <p:cNvPr id="20" name="Text 15"/>
          <p:cNvSpPr/>
          <p:nvPr/>
        </p:nvSpPr>
        <p:spPr>
          <a:xfrm>
            <a:off x="8183880" y="2916936"/>
            <a:ext cx="310896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Orders analysed</a:t>
            </a:r>
            <a:endParaRPr lang="en-US" sz="1100" dirty="0"/>
          </a:p>
        </p:txBody>
      </p:sp>
      <p:sp>
        <p:nvSpPr>
          <p:cNvPr id="21" name="Text 16"/>
          <p:cNvSpPr/>
          <p:nvPr/>
        </p:nvSpPr>
        <p:spPr>
          <a:xfrm>
            <a:off x="8183880" y="3273552"/>
            <a:ext cx="3108960" cy="4114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800</a:t>
            </a:r>
            <a:endParaRPr lang="en-US" sz="2200" dirty="0"/>
          </a:p>
        </p:txBody>
      </p:sp>
      <p:sp>
        <p:nvSpPr>
          <p:cNvPr id="22" name="Text 17"/>
          <p:cNvSpPr/>
          <p:nvPr/>
        </p:nvSpPr>
        <p:spPr>
          <a:xfrm>
            <a:off x="8183880" y="3675888"/>
            <a:ext cx="310896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Registered customers</a:t>
            </a:r>
            <a:endParaRPr lang="en-US" sz="1100" dirty="0"/>
          </a:p>
        </p:txBody>
      </p:sp>
      <p:sp>
        <p:nvSpPr>
          <p:cNvPr id="23" name="Text 18"/>
          <p:cNvSpPr/>
          <p:nvPr/>
        </p:nvSpPr>
        <p:spPr>
          <a:xfrm>
            <a:off x="8183880" y="4032504"/>
            <a:ext cx="3108960" cy="4114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87</a:t>
            </a:r>
            <a:endParaRPr lang="en-US" sz="2200" dirty="0"/>
          </a:p>
        </p:txBody>
      </p:sp>
      <p:sp>
        <p:nvSpPr>
          <p:cNvPr id="24" name="Text 19"/>
          <p:cNvSpPr/>
          <p:nvPr/>
        </p:nvSpPr>
        <p:spPr>
          <a:xfrm>
            <a:off x="8183880" y="4434840"/>
            <a:ext cx="310896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Products Available</a:t>
            </a:r>
            <a:endParaRPr lang="en-US" sz="1100" dirty="0"/>
          </a:p>
        </p:txBody>
      </p:sp>
      <p:sp>
        <p:nvSpPr>
          <p:cNvPr id="25" name="Text 20"/>
          <p:cNvSpPr/>
          <p:nvPr/>
        </p:nvSpPr>
        <p:spPr>
          <a:xfrm>
            <a:off x="8183880" y="4791456"/>
            <a:ext cx="3108960" cy="4114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108</a:t>
            </a:r>
            <a:endParaRPr lang="en-US" sz="2200" dirty="0"/>
          </a:p>
        </p:txBody>
      </p:sp>
      <p:sp>
        <p:nvSpPr>
          <p:cNvPr id="26" name="Text 21"/>
          <p:cNvSpPr/>
          <p:nvPr/>
        </p:nvSpPr>
        <p:spPr>
          <a:xfrm>
            <a:off x="8183880" y="5193792"/>
            <a:ext cx="310896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Marketing campaigns</a:t>
            </a:r>
            <a:endParaRPr lang="en-US" sz="1100" dirty="0"/>
          </a:p>
        </p:txBody>
      </p:sp>
      <p:sp>
        <p:nvSpPr>
          <p:cNvPr id="27" name="Text 22"/>
          <p:cNvSpPr/>
          <p:nvPr/>
        </p:nvSpPr>
        <p:spPr>
          <a:xfrm>
            <a:off x="8183880" y="5550408"/>
            <a:ext cx="3108960" cy="4114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Jan – Dec 2023</a:t>
            </a:r>
            <a:endParaRPr lang="en-US" sz="2200" dirty="0"/>
          </a:p>
        </p:txBody>
      </p:sp>
      <p:sp>
        <p:nvSpPr>
          <p:cNvPr id="28" name="Text 23"/>
          <p:cNvSpPr/>
          <p:nvPr/>
        </p:nvSpPr>
        <p:spPr>
          <a:xfrm>
            <a:off x="8183880" y="5952744"/>
            <a:ext cx="310896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Full-year coverage</a:t>
            </a:r>
            <a:endParaRPr lang="en-US" sz="1100" dirty="0"/>
          </a:p>
        </p:txBody>
      </p:sp>
      <p:sp>
        <p:nvSpPr>
          <p:cNvPr id="29" name="Text 24"/>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30" name="Text 25"/>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DATA &amp; TOOLS</a:t>
            </a:r>
            <a:endParaRPr lang="en-US" sz="125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Five Linked Datasets, One Analytics Stack</a:t>
            </a:r>
            <a:endParaRPr lang="en-US" sz="3000" dirty="0"/>
          </a:p>
        </p:txBody>
      </p:sp>
      <p:sp>
        <p:nvSpPr>
          <p:cNvPr id="4" name="Shape 2"/>
          <p:cNvSpPr/>
          <p:nvPr/>
        </p:nvSpPr>
        <p:spPr>
          <a:xfrm>
            <a:off x="548640" y="1691640"/>
            <a:ext cx="1993392" cy="1874520"/>
          </a:xfrm>
          <a:prstGeom prst="roundRect">
            <a:avLst>
              <a:gd name="adj" fmla="val 3902"/>
            </a:avLst>
          </a:prstGeom>
          <a:solidFill>
            <a:srgbClr val="E8EEF9"/>
          </a:solidFill>
          <a:ln/>
        </p:spPr>
        <p:txBody>
          <a:bodyPr/>
          <a:lstStyle/>
          <a:p>
            <a:endParaRPr lang="en-IN"/>
          </a:p>
        </p:txBody>
      </p:sp>
      <p:sp>
        <p:nvSpPr>
          <p:cNvPr id="5" name="Text 3"/>
          <p:cNvSpPr/>
          <p:nvPr/>
        </p:nvSpPr>
        <p:spPr>
          <a:xfrm>
            <a:off x="685800" y="1828800"/>
            <a:ext cx="17190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Orders</a:t>
            </a:r>
            <a:endParaRPr lang="en-US" sz="1400" dirty="0"/>
          </a:p>
        </p:txBody>
      </p:sp>
      <p:sp>
        <p:nvSpPr>
          <p:cNvPr id="6" name="Text 4"/>
          <p:cNvSpPr/>
          <p:nvPr/>
        </p:nvSpPr>
        <p:spPr>
          <a:xfrm>
            <a:off x="685800" y="2139696"/>
            <a:ext cx="1719072" cy="274320"/>
          </a:xfrm>
          <a:prstGeom prst="rect">
            <a:avLst/>
          </a:prstGeom>
          <a:noFill/>
          <a:ln/>
        </p:spPr>
        <p:txBody>
          <a:bodyPr wrap="square" rtlCol="0" anchor="ctr"/>
          <a:lstStyle/>
          <a:p>
            <a:pPr marL="0" indent="0">
              <a:buNone/>
            </a:pPr>
            <a:r>
              <a:rPr lang="en-US" sz="1100" b="1" dirty="0">
                <a:solidFill>
                  <a:srgbClr val="F2994A"/>
                </a:solidFill>
                <a:latin typeface="Calibri" pitchFamily="34" charset="0"/>
                <a:ea typeface="Calibri" pitchFamily="34" charset="-122"/>
                <a:cs typeface="Calibri" pitchFamily="34" charset="-120"/>
              </a:rPr>
              <a:t>7,562 rows</a:t>
            </a:r>
            <a:endParaRPr lang="en-US" sz="1100" dirty="0"/>
          </a:p>
        </p:txBody>
      </p:sp>
      <p:sp>
        <p:nvSpPr>
          <p:cNvPr id="7" name="Text 5"/>
          <p:cNvSpPr/>
          <p:nvPr/>
        </p:nvSpPr>
        <p:spPr>
          <a:xfrm>
            <a:off x="685800" y="2450592"/>
            <a:ext cx="1719072" cy="1051560"/>
          </a:xfrm>
          <a:prstGeom prst="rect">
            <a:avLst/>
          </a:prstGeom>
          <a:noFill/>
          <a:ln/>
        </p:spPr>
        <p:txBody>
          <a:bodyPr wrap="square"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Line-level transactions: pricing, discount, GST, status, channel</a:t>
            </a:r>
            <a:endParaRPr lang="en-US" sz="950" dirty="0"/>
          </a:p>
        </p:txBody>
      </p:sp>
      <p:sp>
        <p:nvSpPr>
          <p:cNvPr id="8" name="Shape 6"/>
          <p:cNvSpPr/>
          <p:nvPr/>
        </p:nvSpPr>
        <p:spPr>
          <a:xfrm>
            <a:off x="2670048" y="1691640"/>
            <a:ext cx="1993392" cy="1874520"/>
          </a:xfrm>
          <a:prstGeom prst="roundRect">
            <a:avLst>
              <a:gd name="adj" fmla="val 3902"/>
            </a:avLst>
          </a:prstGeom>
          <a:solidFill>
            <a:srgbClr val="E8EEF9"/>
          </a:solidFill>
          <a:ln/>
        </p:spPr>
        <p:txBody>
          <a:bodyPr/>
          <a:lstStyle/>
          <a:p>
            <a:endParaRPr lang="en-IN"/>
          </a:p>
        </p:txBody>
      </p:sp>
      <p:sp>
        <p:nvSpPr>
          <p:cNvPr id="9" name="Text 7"/>
          <p:cNvSpPr/>
          <p:nvPr/>
        </p:nvSpPr>
        <p:spPr>
          <a:xfrm>
            <a:off x="2807208" y="1828800"/>
            <a:ext cx="17190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Customers</a:t>
            </a:r>
            <a:endParaRPr lang="en-US" sz="1400" dirty="0"/>
          </a:p>
        </p:txBody>
      </p:sp>
      <p:sp>
        <p:nvSpPr>
          <p:cNvPr id="10" name="Text 8"/>
          <p:cNvSpPr/>
          <p:nvPr/>
        </p:nvSpPr>
        <p:spPr>
          <a:xfrm>
            <a:off x="2807208" y="2139696"/>
            <a:ext cx="1719072" cy="274320"/>
          </a:xfrm>
          <a:prstGeom prst="rect">
            <a:avLst/>
          </a:prstGeom>
          <a:noFill/>
          <a:ln/>
        </p:spPr>
        <p:txBody>
          <a:bodyPr wrap="square" rtlCol="0" anchor="ctr"/>
          <a:lstStyle/>
          <a:p>
            <a:pPr marL="0" indent="0">
              <a:buNone/>
            </a:pPr>
            <a:r>
              <a:rPr lang="en-US" sz="1100" b="1" dirty="0">
                <a:solidFill>
                  <a:srgbClr val="F2994A"/>
                </a:solidFill>
                <a:latin typeface="Calibri" pitchFamily="34" charset="0"/>
                <a:ea typeface="Calibri" pitchFamily="34" charset="-122"/>
                <a:cs typeface="Calibri" pitchFamily="34" charset="-120"/>
              </a:rPr>
              <a:t>800 rows</a:t>
            </a:r>
            <a:endParaRPr lang="en-US" sz="1100" dirty="0"/>
          </a:p>
        </p:txBody>
      </p:sp>
      <p:sp>
        <p:nvSpPr>
          <p:cNvPr id="11" name="Text 9"/>
          <p:cNvSpPr/>
          <p:nvPr/>
        </p:nvSpPr>
        <p:spPr>
          <a:xfrm>
            <a:off x="2807208" y="2450592"/>
            <a:ext cx="1719072" cy="1051560"/>
          </a:xfrm>
          <a:prstGeom prst="rect">
            <a:avLst/>
          </a:prstGeom>
          <a:noFill/>
          <a:ln/>
        </p:spPr>
        <p:txBody>
          <a:bodyPr wrap="square"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Demographics, segment, acquisition channel, lifetime value</a:t>
            </a:r>
            <a:endParaRPr lang="en-US" sz="950" dirty="0"/>
          </a:p>
        </p:txBody>
      </p:sp>
      <p:sp>
        <p:nvSpPr>
          <p:cNvPr id="12" name="Shape 10"/>
          <p:cNvSpPr/>
          <p:nvPr/>
        </p:nvSpPr>
        <p:spPr>
          <a:xfrm>
            <a:off x="4791456" y="1691640"/>
            <a:ext cx="1993392" cy="1874520"/>
          </a:xfrm>
          <a:prstGeom prst="roundRect">
            <a:avLst>
              <a:gd name="adj" fmla="val 3902"/>
            </a:avLst>
          </a:prstGeom>
          <a:solidFill>
            <a:srgbClr val="E8EEF9"/>
          </a:solidFill>
          <a:ln/>
        </p:spPr>
        <p:txBody>
          <a:bodyPr/>
          <a:lstStyle/>
          <a:p>
            <a:endParaRPr lang="en-IN"/>
          </a:p>
        </p:txBody>
      </p:sp>
      <p:sp>
        <p:nvSpPr>
          <p:cNvPr id="13" name="Text 11"/>
          <p:cNvSpPr/>
          <p:nvPr/>
        </p:nvSpPr>
        <p:spPr>
          <a:xfrm>
            <a:off x="4928616" y="1828800"/>
            <a:ext cx="17190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Products</a:t>
            </a:r>
            <a:endParaRPr lang="en-US" sz="1400" dirty="0"/>
          </a:p>
        </p:txBody>
      </p:sp>
      <p:sp>
        <p:nvSpPr>
          <p:cNvPr id="14" name="Text 12"/>
          <p:cNvSpPr/>
          <p:nvPr/>
        </p:nvSpPr>
        <p:spPr>
          <a:xfrm>
            <a:off x="4928616" y="2139696"/>
            <a:ext cx="1719072" cy="274320"/>
          </a:xfrm>
          <a:prstGeom prst="rect">
            <a:avLst/>
          </a:prstGeom>
          <a:noFill/>
          <a:ln/>
        </p:spPr>
        <p:txBody>
          <a:bodyPr wrap="square" rtlCol="0" anchor="ctr"/>
          <a:lstStyle/>
          <a:p>
            <a:pPr marL="0" indent="0">
              <a:buNone/>
            </a:pPr>
            <a:r>
              <a:rPr lang="en-US" sz="1100" b="1" dirty="0">
                <a:solidFill>
                  <a:srgbClr val="F2994A"/>
                </a:solidFill>
                <a:latin typeface="Calibri" pitchFamily="34" charset="0"/>
                <a:ea typeface="Calibri" pitchFamily="34" charset="-122"/>
                <a:cs typeface="Calibri" pitchFamily="34" charset="-120"/>
              </a:rPr>
              <a:t>87 rows</a:t>
            </a:r>
            <a:endParaRPr lang="en-US" sz="1100" dirty="0"/>
          </a:p>
        </p:txBody>
      </p:sp>
      <p:sp>
        <p:nvSpPr>
          <p:cNvPr id="15" name="Text 13"/>
          <p:cNvSpPr/>
          <p:nvPr/>
        </p:nvSpPr>
        <p:spPr>
          <a:xfrm>
            <a:off x="4928616" y="2450592"/>
            <a:ext cx="1719072" cy="1051560"/>
          </a:xfrm>
          <a:prstGeom prst="rect">
            <a:avLst/>
          </a:prstGeom>
          <a:noFill/>
          <a:ln/>
        </p:spPr>
        <p:txBody>
          <a:bodyPr wrap="square"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Category, brand, cost &amp; selling price, rating, stock</a:t>
            </a:r>
            <a:endParaRPr lang="en-US" sz="950" dirty="0"/>
          </a:p>
        </p:txBody>
      </p:sp>
      <p:sp>
        <p:nvSpPr>
          <p:cNvPr id="16" name="Shape 14"/>
          <p:cNvSpPr/>
          <p:nvPr/>
        </p:nvSpPr>
        <p:spPr>
          <a:xfrm>
            <a:off x="6912864" y="1691640"/>
            <a:ext cx="1993392" cy="1874520"/>
          </a:xfrm>
          <a:prstGeom prst="roundRect">
            <a:avLst>
              <a:gd name="adj" fmla="val 3902"/>
            </a:avLst>
          </a:prstGeom>
          <a:solidFill>
            <a:srgbClr val="E8EEF9"/>
          </a:solidFill>
          <a:ln/>
        </p:spPr>
        <p:txBody>
          <a:bodyPr/>
          <a:lstStyle/>
          <a:p>
            <a:endParaRPr lang="en-IN"/>
          </a:p>
        </p:txBody>
      </p:sp>
      <p:sp>
        <p:nvSpPr>
          <p:cNvPr id="17" name="Text 15"/>
          <p:cNvSpPr/>
          <p:nvPr/>
        </p:nvSpPr>
        <p:spPr>
          <a:xfrm>
            <a:off x="7050024" y="1828800"/>
            <a:ext cx="17190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Campaigns</a:t>
            </a:r>
            <a:endParaRPr lang="en-US" sz="1400" dirty="0"/>
          </a:p>
        </p:txBody>
      </p:sp>
      <p:sp>
        <p:nvSpPr>
          <p:cNvPr id="18" name="Text 16"/>
          <p:cNvSpPr/>
          <p:nvPr/>
        </p:nvSpPr>
        <p:spPr>
          <a:xfrm>
            <a:off x="7050024" y="2139696"/>
            <a:ext cx="1719072" cy="274320"/>
          </a:xfrm>
          <a:prstGeom prst="rect">
            <a:avLst/>
          </a:prstGeom>
          <a:noFill/>
          <a:ln/>
        </p:spPr>
        <p:txBody>
          <a:bodyPr wrap="square" rtlCol="0" anchor="ctr"/>
          <a:lstStyle/>
          <a:p>
            <a:pPr marL="0" indent="0">
              <a:buNone/>
            </a:pPr>
            <a:r>
              <a:rPr lang="en-US" sz="1100" b="1" dirty="0">
                <a:solidFill>
                  <a:srgbClr val="F2994A"/>
                </a:solidFill>
                <a:latin typeface="Calibri" pitchFamily="34" charset="0"/>
                <a:ea typeface="Calibri" pitchFamily="34" charset="-122"/>
                <a:cs typeface="Calibri" pitchFamily="34" charset="-120"/>
              </a:rPr>
              <a:t>108 rows</a:t>
            </a:r>
            <a:endParaRPr lang="en-US" sz="1100" dirty="0"/>
          </a:p>
        </p:txBody>
      </p:sp>
      <p:sp>
        <p:nvSpPr>
          <p:cNvPr id="19" name="Text 17"/>
          <p:cNvSpPr/>
          <p:nvPr/>
        </p:nvSpPr>
        <p:spPr>
          <a:xfrm>
            <a:off x="7050024" y="2450592"/>
            <a:ext cx="1719072" cy="1051560"/>
          </a:xfrm>
          <a:prstGeom prst="rect">
            <a:avLst/>
          </a:prstGeom>
          <a:noFill/>
          <a:ln/>
        </p:spPr>
        <p:txBody>
          <a:bodyPr wrap="square"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Monthly spend, clicks, conversions, ROAS by channel</a:t>
            </a:r>
            <a:endParaRPr lang="en-US" sz="950" dirty="0"/>
          </a:p>
        </p:txBody>
      </p:sp>
      <p:sp>
        <p:nvSpPr>
          <p:cNvPr id="20" name="Shape 18"/>
          <p:cNvSpPr/>
          <p:nvPr/>
        </p:nvSpPr>
        <p:spPr>
          <a:xfrm>
            <a:off x="9034272" y="1691640"/>
            <a:ext cx="1993392" cy="1874520"/>
          </a:xfrm>
          <a:prstGeom prst="roundRect">
            <a:avLst>
              <a:gd name="adj" fmla="val 3902"/>
            </a:avLst>
          </a:prstGeom>
          <a:solidFill>
            <a:srgbClr val="E8EEF9"/>
          </a:solidFill>
          <a:ln/>
        </p:spPr>
        <p:txBody>
          <a:bodyPr/>
          <a:lstStyle/>
          <a:p>
            <a:endParaRPr lang="en-IN"/>
          </a:p>
        </p:txBody>
      </p:sp>
      <p:sp>
        <p:nvSpPr>
          <p:cNvPr id="21" name="Text 19"/>
          <p:cNvSpPr/>
          <p:nvPr/>
        </p:nvSpPr>
        <p:spPr>
          <a:xfrm>
            <a:off x="9171432" y="1828800"/>
            <a:ext cx="1719072"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Returns</a:t>
            </a:r>
            <a:endParaRPr lang="en-US" sz="1400" dirty="0"/>
          </a:p>
        </p:txBody>
      </p:sp>
      <p:sp>
        <p:nvSpPr>
          <p:cNvPr id="22" name="Text 20"/>
          <p:cNvSpPr/>
          <p:nvPr/>
        </p:nvSpPr>
        <p:spPr>
          <a:xfrm>
            <a:off x="9171432" y="2139696"/>
            <a:ext cx="1719072" cy="274320"/>
          </a:xfrm>
          <a:prstGeom prst="rect">
            <a:avLst/>
          </a:prstGeom>
          <a:noFill/>
          <a:ln/>
        </p:spPr>
        <p:txBody>
          <a:bodyPr wrap="square" rtlCol="0" anchor="ctr"/>
          <a:lstStyle/>
          <a:p>
            <a:pPr marL="0" indent="0">
              <a:buNone/>
            </a:pPr>
            <a:r>
              <a:rPr lang="en-US" sz="1100" b="1" dirty="0">
                <a:solidFill>
                  <a:srgbClr val="F2994A"/>
                </a:solidFill>
                <a:latin typeface="Calibri" pitchFamily="34" charset="0"/>
                <a:ea typeface="Calibri" pitchFamily="34" charset="-122"/>
                <a:cs typeface="Calibri" pitchFamily="34" charset="-120"/>
              </a:rPr>
              <a:t>574 rows</a:t>
            </a:r>
            <a:endParaRPr lang="en-US" sz="1100" dirty="0"/>
          </a:p>
        </p:txBody>
      </p:sp>
      <p:sp>
        <p:nvSpPr>
          <p:cNvPr id="23" name="Text 21"/>
          <p:cNvSpPr/>
          <p:nvPr/>
        </p:nvSpPr>
        <p:spPr>
          <a:xfrm>
            <a:off x="9171432" y="2450592"/>
            <a:ext cx="1719072" cy="1051560"/>
          </a:xfrm>
          <a:prstGeom prst="rect">
            <a:avLst/>
          </a:prstGeom>
          <a:noFill/>
          <a:ln/>
        </p:spPr>
        <p:txBody>
          <a:bodyPr wrap="square"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Return reason, refund amount, resolution time, feedback</a:t>
            </a:r>
            <a:endParaRPr lang="en-US" sz="950" dirty="0"/>
          </a:p>
        </p:txBody>
      </p:sp>
      <p:sp>
        <p:nvSpPr>
          <p:cNvPr id="24" name="Text 22"/>
          <p:cNvSpPr/>
          <p:nvPr/>
        </p:nvSpPr>
        <p:spPr>
          <a:xfrm>
            <a:off x="548640" y="3749040"/>
            <a:ext cx="10881360" cy="320040"/>
          </a:xfrm>
          <a:prstGeom prst="rect">
            <a:avLst/>
          </a:prstGeom>
          <a:noFill/>
          <a:ln/>
        </p:spPr>
        <p:txBody>
          <a:bodyPr wrap="square" rtlCol="0" anchor="ctr"/>
          <a:lstStyle/>
          <a:p>
            <a:r>
              <a:rPr lang="en-IN" sz="1100" i="1" dirty="0">
                <a:solidFill>
                  <a:srgbClr val="8B95A5"/>
                </a:solidFill>
                <a:latin typeface="Calibri" pitchFamily="34" charset="0"/>
                <a:ea typeface="Calibri" pitchFamily="34" charset="-122"/>
                <a:cs typeface="Calibri" pitchFamily="34" charset="-120"/>
              </a:rPr>
              <a:t>Structured e-commerce data across Orders, Customers, Products, and Marketing Campaigns, connected through common keys to create an integrated analytical data model.</a:t>
            </a:r>
            <a:endParaRPr lang="en-US" sz="1100" i="1" dirty="0">
              <a:solidFill>
                <a:srgbClr val="8B95A5"/>
              </a:solidFill>
              <a:latin typeface="Calibri" pitchFamily="34" charset="0"/>
              <a:ea typeface="Calibri" pitchFamily="34" charset="-122"/>
              <a:cs typeface="Calibri" pitchFamily="34" charset="-120"/>
            </a:endParaRPr>
          </a:p>
        </p:txBody>
      </p:sp>
      <p:sp>
        <p:nvSpPr>
          <p:cNvPr id="25" name="Text 23"/>
          <p:cNvSpPr/>
          <p:nvPr/>
        </p:nvSpPr>
        <p:spPr>
          <a:xfrm>
            <a:off x="548640" y="4343400"/>
            <a:ext cx="4572000" cy="27432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ANALYTICS STACK</a:t>
            </a:r>
            <a:endParaRPr lang="en-US" sz="1100" dirty="0"/>
          </a:p>
        </p:txBody>
      </p:sp>
      <p:sp>
        <p:nvSpPr>
          <p:cNvPr id="26" name="Shape 24"/>
          <p:cNvSpPr/>
          <p:nvPr/>
        </p:nvSpPr>
        <p:spPr>
          <a:xfrm>
            <a:off x="548640" y="4709160"/>
            <a:ext cx="2697480" cy="1417320"/>
          </a:xfrm>
          <a:prstGeom prst="roundRect">
            <a:avLst>
              <a:gd name="adj" fmla="val 5161"/>
            </a:avLst>
          </a:prstGeom>
          <a:solidFill>
            <a:srgbClr val="E8EEF9"/>
          </a:solidFill>
          <a:ln/>
        </p:spPr>
        <p:txBody>
          <a:bodyPr/>
          <a:lstStyle/>
          <a:p>
            <a:endParaRPr lang="en-IN"/>
          </a:p>
        </p:txBody>
      </p:sp>
      <p:sp>
        <p:nvSpPr>
          <p:cNvPr id="27" name="Shape 25"/>
          <p:cNvSpPr/>
          <p:nvPr/>
        </p:nvSpPr>
        <p:spPr>
          <a:xfrm>
            <a:off x="749808" y="4901184"/>
            <a:ext cx="502920" cy="502920"/>
          </a:xfrm>
          <a:prstGeom prst="ellipse">
            <a:avLst/>
          </a:prstGeom>
          <a:solidFill>
            <a:srgbClr val="1B2A4A"/>
          </a:solidFill>
          <a:ln/>
        </p:spPr>
        <p:txBody>
          <a:bodyPr/>
          <a:lstStyle/>
          <a:p>
            <a:endParaRPr lang="en-IN"/>
          </a:p>
        </p:txBody>
      </p:sp>
      <p:pic>
        <p:nvPicPr>
          <p:cNvPr id="28" name="Image 0" descr="icons/database.png"/>
          <p:cNvPicPr>
            <a:picLocks noChangeAspect="1"/>
          </p:cNvPicPr>
          <p:nvPr/>
        </p:nvPicPr>
        <p:blipFill>
          <a:blip r:embed="rId3"/>
          <a:stretch>
            <a:fillRect/>
          </a:stretch>
        </p:blipFill>
        <p:spPr>
          <a:xfrm>
            <a:off x="862965" y="5014341"/>
            <a:ext cx="276606" cy="276606"/>
          </a:xfrm>
          <a:prstGeom prst="rect">
            <a:avLst/>
          </a:prstGeom>
        </p:spPr>
      </p:pic>
      <p:sp>
        <p:nvSpPr>
          <p:cNvPr id="29" name="Text 26"/>
          <p:cNvSpPr/>
          <p:nvPr/>
        </p:nvSpPr>
        <p:spPr>
          <a:xfrm>
            <a:off x="1371600" y="4864608"/>
            <a:ext cx="178308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MySQL</a:t>
            </a:r>
            <a:endParaRPr lang="en-US" sz="1350" dirty="0"/>
          </a:p>
        </p:txBody>
      </p:sp>
      <p:sp>
        <p:nvSpPr>
          <p:cNvPr id="30" name="Text 27"/>
          <p:cNvSpPr/>
          <p:nvPr/>
        </p:nvSpPr>
        <p:spPr>
          <a:xfrm>
            <a:off x="749808" y="5468112"/>
            <a:ext cx="2331720" cy="548640"/>
          </a:xfrm>
          <a:prstGeom prst="rect">
            <a:avLst/>
          </a:prstGeom>
          <a:noFill/>
          <a:ln/>
        </p:spPr>
        <p:txBody>
          <a:bodyPr wrap="square"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Data cleaning, validation</a:t>
            </a:r>
            <a:endParaRPr lang="en-US" sz="950" dirty="0"/>
          </a:p>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&amp; KPI query logic</a:t>
            </a:r>
            <a:endParaRPr lang="en-US" sz="950" dirty="0"/>
          </a:p>
        </p:txBody>
      </p:sp>
      <p:sp>
        <p:nvSpPr>
          <p:cNvPr id="31" name="Shape 28"/>
          <p:cNvSpPr/>
          <p:nvPr/>
        </p:nvSpPr>
        <p:spPr>
          <a:xfrm>
            <a:off x="3383280" y="4709160"/>
            <a:ext cx="2697480" cy="1417320"/>
          </a:xfrm>
          <a:prstGeom prst="roundRect">
            <a:avLst>
              <a:gd name="adj" fmla="val 5161"/>
            </a:avLst>
          </a:prstGeom>
          <a:solidFill>
            <a:srgbClr val="E8EEF9"/>
          </a:solidFill>
          <a:ln/>
        </p:spPr>
        <p:txBody>
          <a:bodyPr/>
          <a:lstStyle/>
          <a:p>
            <a:endParaRPr lang="en-IN"/>
          </a:p>
        </p:txBody>
      </p:sp>
      <p:sp>
        <p:nvSpPr>
          <p:cNvPr id="32" name="Shape 29"/>
          <p:cNvSpPr/>
          <p:nvPr/>
        </p:nvSpPr>
        <p:spPr>
          <a:xfrm>
            <a:off x="3584448" y="4901184"/>
            <a:ext cx="502920" cy="502920"/>
          </a:xfrm>
          <a:prstGeom prst="ellipse">
            <a:avLst/>
          </a:prstGeom>
          <a:solidFill>
            <a:srgbClr val="1B2A4A"/>
          </a:solidFill>
          <a:ln/>
        </p:spPr>
        <p:txBody>
          <a:bodyPr/>
          <a:lstStyle/>
          <a:p>
            <a:endParaRPr lang="en-IN"/>
          </a:p>
        </p:txBody>
      </p:sp>
      <p:pic>
        <p:nvPicPr>
          <p:cNvPr id="33" name="Image 1" descr="icons/grid.png"/>
          <p:cNvPicPr>
            <a:picLocks noChangeAspect="1"/>
          </p:cNvPicPr>
          <p:nvPr/>
        </p:nvPicPr>
        <p:blipFill>
          <a:blip r:embed="rId4"/>
          <a:stretch>
            <a:fillRect/>
          </a:stretch>
        </p:blipFill>
        <p:spPr>
          <a:xfrm>
            <a:off x="3697605" y="5014341"/>
            <a:ext cx="276606" cy="276606"/>
          </a:xfrm>
          <a:prstGeom prst="rect">
            <a:avLst/>
          </a:prstGeom>
        </p:spPr>
      </p:pic>
      <p:sp>
        <p:nvSpPr>
          <p:cNvPr id="34" name="Text 30"/>
          <p:cNvSpPr/>
          <p:nvPr/>
        </p:nvSpPr>
        <p:spPr>
          <a:xfrm>
            <a:off x="4206240" y="4864608"/>
            <a:ext cx="178308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Excel</a:t>
            </a:r>
            <a:endParaRPr lang="en-US" sz="1350" dirty="0"/>
          </a:p>
        </p:txBody>
      </p:sp>
      <p:sp>
        <p:nvSpPr>
          <p:cNvPr id="35" name="Text 31"/>
          <p:cNvSpPr/>
          <p:nvPr/>
        </p:nvSpPr>
        <p:spPr>
          <a:xfrm>
            <a:off x="3584448" y="5468112"/>
            <a:ext cx="2331720" cy="548640"/>
          </a:xfrm>
          <a:prstGeom prst="rect">
            <a:avLst/>
          </a:prstGeom>
          <a:noFill/>
          <a:ln/>
        </p:spPr>
        <p:txBody>
          <a:bodyPr wrap="square"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Pivot-driven KPI &amp;</a:t>
            </a:r>
            <a:endParaRPr lang="en-US" sz="950" dirty="0"/>
          </a:p>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dashboard modelling</a:t>
            </a:r>
            <a:endParaRPr lang="en-US" sz="950" dirty="0"/>
          </a:p>
        </p:txBody>
      </p:sp>
      <p:sp>
        <p:nvSpPr>
          <p:cNvPr id="36" name="Shape 32"/>
          <p:cNvSpPr/>
          <p:nvPr/>
        </p:nvSpPr>
        <p:spPr>
          <a:xfrm>
            <a:off x="6217920" y="4709160"/>
            <a:ext cx="2697480" cy="1417320"/>
          </a:xfrm>
          <a:prstGeom prst="roundRect">
            <a:avLst>
              <a:gd name="adj" fmla="val 5161"/>
            </a:avLst>
          </a:prstGeom>
          <a:solidFill>
            <a:srgbClr val="E8EEF9"/>
          </a:solidFill>
          <a:ln/>
        </p:spPr>
        <p:txBody>
          <a:bodyPr/>
          <a:lstStyle/>
          <a:p>
            <a:endParaRPr lang="en-IN"/>
          </a:p>
        </p:txBody>
      </p:sp>
      <p:sp>
        <p:nvSpPr>
          <p:cNvPr id="37" name="Shape 33"/>
          <p:cNvSpPr/>
          <p:nvPr/>
        </p:nvSpPr>
        <p:spPr>
          <a:xfrm>
            <a:off x="6419088" y="4901184"/>
            <a:ext cx="502920" cy="502920"/>
          </a:xfrm>
          <a:prstGeom prst="ellipse">
            <a:avLst/>
          </a:prstGeom>
          <a:solidFill>
            <a:srgbClr val="1B2A4A"/>
          </a:solidFill>
          <a:ln/>
        </p:spPr>
        <p:txBody>
          <a:bodyPr/>
          <a:lstStyle/>
          <a:p>
            <a:endParaRPr lang="en-IN"/>
          </a:p>
        </p:txBody>
      </p:sp>
      <p:pic>
        <p:nvPicPr>
          <p:cNvPr id="38" name="Image 2" descr="icons/barchart.png"/>
          <p:cNvPicPr>
            <a:picLocks noChangeAspect="1"/>
          </p:cNvPicPr>
          <p:nvPr/>
        </p:nvPicPr>
        <p:blipFill>
          <a:blip r:embed="rId5"/>
          <a:stretch>
            <a:fillRect/>
          </a:stretch>
        </p:blipFill>
        <p:spPr>
          <a:xfrm>
            <a:off x="6532245" y="5014341"/>
            <a:ext cx="276606" cy="276606"/>
          </a:xfrm>
          <a:prstGeom prst="rect">
            <a:avLst/>
          </a:prstGeom>
        </p:spPr>
      </p:pic>
      <p:sp>
        <p:nvSpPr>
          <p:cNvPr id="39" name="Text 34"/>
          <p:cNvSpPr/>
          <p:nvPr/>
        </p:nvSpPr>
        <p:spPr>
          <a:xfrm>
            <a:off x="7040880" y="4864608"/>
            <a:ext cx="178308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Tableau</a:t>
            </a:r>
            <a:endParaRPr lang="en-US" sz="1350" dirty="0"/>
          </a:p>
        </p:txBody>
      </p:sp>
      <p:sp>
        <p:nvSpPr>
          <p:cNvPr id="40" name="Text 35"/>
          <p:cNvSpPr/>
          <p:nvPr/>
        </p:nvSpPr>
        <p:spPr>
          <a:xfrm>
            <a:off x="6419088" y="5468112"/>
            <a:ext cx="2331720" cy="548640"/>
          </a:xfrm>
          <a:prstGeom prst="rect">
            <a:avLst/>
          </a:prstGeom>
          <a:noFill/>
          <a:ln/>
        </p:spPr>
        <p:txBody>
          <a:bodyPr wrap="square"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Interactive marketing &amp;</a:t>
            </a:r>
            <a:endParaRPr lang="en-US" sz="950" dirty="0"/>
          </a:p>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campaign visuals</a:t>
            </a:r>
            <a:endParaRPr lang="en-US" sz="950" dirty="0"/>
          </a:p>
        </p:txBody>
      </p:sp>
      <p:sp>
        <p:nvSpPr>
          <p:cNvPr id="41" name="Shape 36"/>
          <p:cNvSpPr/>
          <p:nvPr/>
        </p:nvSpPr>
        <p:spPr>
          <a:xfrm>
            <a:off x="9052560" y="4709160"/>
            <a:ext cx="2697480" cy="1417320"/>
          </a:xfrm>
          <a:prstGeom prst="roundRect">
            <a:avLst>
              <a:gd name="adj" fmla="val 5161"/>
            </a:avLst>
          </a:prstGeom>
          <a:solidFill>
            <a:srgbClr val="E8EEF9"/>
          </a:solidFill>
          <a:ln/>
        </p:spPr>
        <p:txBody>
          <a:bodyPr/>
          <a:lstStyle/>
          <a:p>
            <a:endParaRPr lang="en-IN"/>
          </a:p>
        </p:txBody>
      </p:sp>
      <p:sp>
        <p:nvSpPr>
          <p:cNvPr id="42" name="Shape 37"/>
          <p:cNvSpPr/>
          <p:nvPr/>
        </p:nvSpPr>
        <p:spPr>
          <a:xfrm>
            <a:off x="9253728" y="4901184"/>
            <a:ext cx="502920" cy="502920"/>
          </a:xfrm>
          <a:prstGeom prst="ellipse">
            <a:avLst/>
          </a:prstGeom>
          <a:solidFill>
            <a:schemeClr val="tx2">
              <a:lumMod val="50000"/>
            </a:schemeClr>
          </a:solidFill>
          <a:ln/>
        </p:spPr>
        <p:txBody>
          <a:bodyPr/>
          <a:lstStyle/>
          <a:p>
            <a:endParaRPr lang="en-IN"/>
          </a:p>
        </p:txBody>
      </p:sp>
      <p:pic>
        <p:nvPicPr>
          <p:cNvPr id="43" name="Image 3" descr="icons/piechart.png"/>
          <p:cNvPicPr>
            <a:picLocks noChangeAspect="1"/>
          </p:cNvPicPr>
          <p:nvPr/>
        </p:nvPicPr>
        <p:blipFill>
          <a:blip r:embed="rId6"/>
          <a:stretch>
            <a:fillRect/>
          </a:stretch>
        </p:blipFill>
        <p:spPr>
          <a:xfrm>
            <a:off x="9366885" y="4990776"/>
            <a:ext cx="276606" cy="276606"/>
          </a:xfrm>
          <a:prstGeom prst="rect">
            <a:avLst/>
          </a:prstGeom>
        </p:spPr>
      </p:pic>
      <p:sp>
        <p:nvSpPr>
          <p:cNvPr id="44" name="Text 38"/>
          <p:cNvSpPr/>
          <p:nvPr/>
        </p:nvSpPr>
        <p:spPr>
          <a:xfrm>
            <a:off x="9875520" y="4864608"/>
            <a:ext cx="178308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Power BI</a:t>
            </a:r>
            <a:endParaRPr lang="en-US" sz="1350" dirty="0"/>
          </a:p>
        </p:txBody>
      </p:sp>
      <p:sp>
        <p:nvSpPr>
          <p:cNvPr id="45" name="Text 39"/>
          <p:cNvSpPr/>
          <p:nvPr/>
        </p:nvSpPr>
        <p:spPr>
          <a:xfrm>
            <a:off x="9253728" y="5468112"/>
            <a:ext cx="2331720" cy="548640"/>
          </a:xfrm>
          <a:prstGeom prst="rect">
            <a:avLst/>
          </a:prstGeom>
          <a:noFill/>
          <a:ln/>
        </p:spPr>
        <p:txBody>
          <a:bodyPr wrap="square"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Interactive KPI’s, Visualizations and Dashboard</a:t>
            </a:r>
            <a:endParaRPr lang="en-US" sz="950" dirty="0"/>
          </a:p>
        </p:txBody>
      </p:sp>
      <p:sp>
        <p:nvSpPr>
          <p:cNvPr id="46" name="Text 40"/>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47" name="Text 41"/>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SQL ANALYSIS</a:t>
            </a:r>
            <a:endParaRPr lang="en-US" sz="125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Seven Query Modules Behind the Numbers</a:t>
            </a:r>
            <a:endParaRPr lang="en-US" sz="3000" dirty="0"/>
          </a:p>
        </p:txBody>
      </p:sp>
      <p:sp>
        <p:nvSpPr>
          <p:cNvPr id="4" name="Text 2"/>
          <p:cNvSpPr/>
          <p:nvPr/>
        </p:nvSpPr>
        <p:spPr>
          <a:xfrm>
            <a:off x="548640" y="1417320"/>
            <a:ext cx="10789920" cy="457200"/>
          </a:xfrm>
          <a:prstGeom prst="rect">
            <a:avLst/>
          </a:prstGeom>
          <a:noFill/>
          <a:ln/>
        </p:spPr>
        <p:txBody>
          <a:bodyPr wrap="square" rtlCol="0" anchor="ctr"/>
          <a:lstStyle/>
          <a:p>
            <a:pPr marL="0" indent="0">
              <a:buNone/>
            </a:pPr>
            <a:r>
              <a:rPr lang="en-US" sz="1250" dirty="0">
                <a:solidFill>
                  <a:srgbClr val="4A5568"/>
                </a:solidFill>
                <a:latin typeface="Calibri" pitchFamily="34" charset="0"/>
                <a:ea typeface="Calibri" pitchFamily="34" charset="-122"/>
                <a:cs typeface="Calibri" pitchFamily="34" charset="-120"/>
              </a:rPr>
              <a:t>All KPIs used across the Excel and Tableau dashboards trace back to a validated MySQL database (ShopNovaDB) built from the five source tables.</a:t>
            </a:r>
            <a:endParaRPr lang="en-US" sz="1250" dirty="0"/>
          </a:p>
        </p:txBody>
      </p:sp>
      <p:sp>
        <p:nvSpPr>
          <p:cNvPr id="5" name="Shape 3"/>
          <p:cNvSpPr/>
          <p:nvPr/>
        </p:nvSpPr>
        <p:spPr>
          <a:xfrm>
            <a:off x="548640" y="2203704"/>
            <a:ext cx="128016" cy="128016"/>
          </a:xfrm>
          <a:prstGeom prst="ellipse">
            <a:avLst/>
          </a:prstGeom>
          <a:solidFill>
            <a:srgbClr val="F2994A"/>
          </a:solidFill>
          <a:ln/>
        </p:spPr>
        <p:txBody>
          <a:bodyPr/>
          <a:lstStyle/>
          <a:p>
            <a:endParaRPr lang="en-IN"/>
          </a:p>
        </p:txBody>
      </p:sp>
      <p:sp>
        <p:nvSpPr>
          <p:cNvPr id="6" name="Text 4"/>
          <p:cNvSpPr/>
          <p:nvPr/>
        </p:nvSpPr>
        <p:spPr>
          <a:xfrm>
            <a:off x="804672" y="2075688"/>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1. Data Setup &amp; Validation</a:t>
            </a:r>
            <a:endParaRPr lang="en-US" sz="1250" dirty="0"/>
          </a:p>
        </p:txBody>
      </p:sp>
      <p:sp>
        <p:nvSpPr>
          <p:cNvPr id="7" name="Text 5"/>
          <p:cNvSpPr/>
          <p:nvPr/>
        </p:nvSpPr>
        <p:spPr>
          <a:xfrm>
            <a:off x="804672" y="2322576"/>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Row-count checks, duplicate-ID detection across all 5 tables</a:t>
            </a:r>
            <a:endParaRPr lang="en-US" sz="1000" dirty="0"/>
          </a:p>
        </p:txBody>
      </p:sp>
      <p:sp>
        <p:nvSpPr>
          <p:cNvPr id="8" name="Shape 6"/>
          <p:cNvSpPr/>
          <p:nvPr/>
        </p:nvSpPr>
        <p:spPr>
          <a:xfrm>
            <a:off x="548640" y="2825496"/>
            <a:ext cx="128016" cy="128016"/>
          </a:xfrm>
          <a:prstGeom prst="ellipse">
            <a:avLst/>
          </a:prstGeom>
          <a:solidFill>
            <a:srgbClr val="F2994A"/>
          </a:solidFill>
          <a:ln/>
        </p:spPr>
        <p:txBody>
          <a:bodyPr/>
          <a:lstStyle/>
          <a:p>
            <a:endParaRPr lang="en-IN"/>
          </a:p>
        </p:txBody>
      </p:sp>
      <p:sp>
        <p:nvSpPr>
          <p:cNvPr id="9" name="Text 7"/>
          <p:cNvSpPr/>
          <p:nvPr/>
        </p:nvSpPr>
        <p:spPr>
          <a:xfrm>
            <a:off x="804672" y="2697480"/>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2. Overall Analysis</a:t>
            </a:r>
            <a:endParaRPr lang="en-US" sz="1250" dirty="0"/>
          </a:p>
        </p:txBody>
      </p:sp>
      <p:sp>
        <p:nvSpPr>
          <p:cNvPr id="10" name="Text 8"/>
          <p:cNvSpPr/>
          <p:nvPr/>
        </p:nvSpPr>
        <p:spPr>
          <a:xfrm>
            <a:off x="804672" y="2944368"/>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Headline KPIs — revenue, orders, customers, ROAS in one view</a:t>
            </a:r>
            <a:endParaRPr lang="en-US" sz="1000" dirty="0"/>
          </a:p>
        </p:txBody>
      </p:sp>
      <p:sp>
        <p:nvSpPr>
          <p:cNvPr id="11" name="Shape 9"/>
          <p:cNvSpPr/>
          <p:nvPr/>
        </p:nvSpPr>
        <p:spPr>
          <a:xfrm>
            <a:off x="548640" y="3447288"/>
            <a:ext cx="128016" cy="128016"/>
          </a:xfrm>
          <a:prstGeom prst="ellipse">
            <a:avLst/>
          </a:prstGeom>
          <a:solidFill>
            <a:srgbClr val="F2994A"/>
          </a:solidFill>
          <a:ln/>
        </p:spPr>
        <p:txBody>
          <a:bodyPr/>
          <a:lstStyle/>
          <a:p>
            <a:endParaRPr lang="en-IN"/>
          </a:p>
        </p:txBody>
      </p:sp>
      <p:sp>
        <p:nvSpPr>
          <p:cNvPr id="12" name="Text 10"/>
          <p:cNvSpPr/>
          <p:nvPr/>
        </p:nvSpPr>
        <p:spPr>
          <a:xfrm>
            <a:off x="804672" y="3319272"/>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3. Revenue Analysis</a:t>
            </a:r>
            <a:endParaRPr lang="en-US" sz="1250" dirty="0"/>
          </a:p>
        </p:txBody>
      </p:sp>
      <p:sp>
        <p:nvSpPr>
          <p:cNvPr id="13" name="Text 11"/>
          <p:cNvSpPr/>
          <p:nvPr/>
        </p:nvSpPr>
        <p:spPr>
          <a:xfrm>
            <a:off x="804672" y="3566160"/>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Gross vs. net revenue, discounts, GST, AOV, GMV</a:t>
            </a:r>
            <a:endParaRPr lang="en-US" sz="1000" dirty="0"/>
          </a:p>
        </p:txBody>
      </p:sp>
      <p:sp>
        <p:nvSpPr>
          <p:cNvPr id="14" name="Shape 12"/>
          <p:cNvSpPr/>
          <p:nvPr/>
        </p:nvSpPr>
        <p:spPr>
          <a:xfrm>
            <a:off x="548640" y="4069080"/>
            <a:ext cx="128016" cy="128016"/>
          </a:xfrm>
          <a:prstGeom prst="ellipse">
            <a:avLst/>
          </a:prstGeom>
          <a:solidFill>
            <a:srgbClr val="F2994A"/>
          </a:solidFill>
          <a:ln/>
        </p:spPr>
        <p:txBody>
          <a:bodyPr/>
          <a:lstStyle/>
          <a:p>
            <a:endParaRPr lang="en-IN"/>
          </a:p>
        </p:txBody>
      </p:sp>
      <p:sp>
        <p:nvSpPr>
          <p:cNvPr id="15" name="Text 13"/>
          <p:cNvSpPr/>
          <p:nvPr/>
        </p:nvSpPr>
        <p:spPr>
          <a:xfrm>
            <a:off x="804672" y="3941064"/>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4. Orders Analysis</a:t>
            </a:r>
            <a:endParaRPr lang="en-US" sz="1250" dirty="0"/>
          </a:p>
        </p:txBody>
      </p:sp>
      <p:sp>
        <p:nvSpPr>
          <p:cNvPr id="16" name="Text 14"/>
          <p:cNvSpPr/>
          <p:nvPr/>
        </p:nvSpPr>
        <p:spPr>
          <a:xfrm>
            <a:off x="804672" y="4187952"/>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Status mix, cancellation &amp; return rate, channel &amp; category split</a:t>
            </a:r>
            <a:endParaRPr lang="en-US" sz="1000" dirty="0"/>
          </a:p>
        </p:txBody>
      </p:sp>
      <p:sp>
        <p:nvSpPr>
          <p:cNvPr id="17" name="Shape 15"/>
          <p:cNvSpPr/>
          <p:nvPr/>
        </p:nvSpPr>
        <p:spPr>
          <a:xfrm>
            <a:off x="6172200" y="2203704"/>
            <a:ext cx="128016" cy="128016"/>
          </a:xfrm>
          <a:prstGeom prst="ellipse">
            <a:avLst/>
          </a:prstGeom>
          <a:solidFill>
            <a:srgbClr val="F2994A"/>
          </a:solidFill>
          <a:ln/>
        </p:spPr>
        <p:txBody>
          <a:bodyPr/>
          <a:lstStyle/>
          <a:p>
            <a:endParaRPr lang="en-IN"/>
          </a:p>
        </p:txBody>
      </p:sp>
      <p:sp>
        <p:nvSpPr>
          <p:cNvPr id="18" name="Text 16"/>
          <p:cNvSpPr/>
          <p:nvPr/>
        </p:nvSpPr>
        <p:spPr>
          <a:xfrm>
            <a:off x="6428232" y="2075688"/>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5. Customer Analysis</a:t>
            </a:r>
            <a:endParaRPr lang="en-US" sz="1250" dirty="0"/>
          </a:p>
        </p:txBody>
      </p:sp>
      <p:sp>
        <p:nvSpPr>
          <p:cNvPr id="19" name="Text 17"/>
          <p:cNvSpPr/>
          <p:nvPr/>
        </p:nvSpPr>
        <p:spPr>
          <a:xfrm>
            <a:off x="6428232" y="2322576"/>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Segment value, acquisition channel, geography, CLV</a:t>
            </a:r>
            <a:endParaRPr lang="en-US" sz="1000" dirty="0"/>
          </a:p>
        </p:txBody>
      </p:sp>
      <p:sp>
        <p:nvSpPr>
          <p:cNvPr id="20" name="Shape 18"/>
          <p:cNvSpPr/>
          <p:nvPr/>
        </p:nvSpPr>
        <p:spPr>
          <a:xfrm>
            <a:off x="6172200" y="2825496"/>
            <a:ext cx="128016" cy="128016"/>
          </a:xfrm>
          <a:prstGeom prst="ellipse">
            <a:avLst/>
          </a:prstGeom>
          <a:solidFill>
            <a:srgbClr val="F2994A"/>
          </a:solidFill>
          <a:ln/>
        </p:spPr>
        <p:txBody>
          <a:bodyPr/>
          <a:lstStyle/>
          <a:p>
            <a:endParaRPr lang="en-IN"/>
          </a:p>
        </p:txBody>
      </p:sp>
      <p:sp>
        <p:nvSpPr>
          <p:cNvPr id="21" name="Text 19"/>
          <p:cNvSpPr/>
          <p:nvPr/>
        </p:nvSpPr>
        <p:spPr>
          <a:xfrm>
            <a:off x="6428232" y="2697480"/>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6. Product Analysis</a:t>
            </a:r>
            <a:endParaRPr lang="en-US" sz="1250" dirty="0"/>
          </a:p>
        </p:txBody>
      </p:sp>
      <p:sp>
        <p:nvSpPr>
          <p:cNvPr id="22" name="Text 20"/>
          <p:cNvSpPr/>
          <p:nvPr/>
        </p:nvSpPr>
        <p:spPr>
          <a:xfrm>
            <a:off x="6428232" y="2944368"/>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Category revenue, margin %, stock health, top brands</a:t>
            </a:r>
            <a:endParaRPr lang="en-US" sz="1000" dirty="0"/>
          </a:p>
        </p:txBody>
      </p:sp>
      <p:sp>
        <p:nvSpPr>
          <p:cNvPr id="23" name="Shape 21"/>
          <p:cNvSpPr/>
          <p:nvPr/>
        </p:nvSpPr>
        <p:spPr>
          <a:xfrm>
            <a:off x="6172200" y="3447288"/>
            <a:ext cx="128016" cy="128016"/>
          </a:xfrm>
          <a:prstGeom prst="ellipse">
            <a:avLst/>
          </a:prstGeom>
          <a:solidFill>
            <a:srgbClr val="F2994A"/>
          </a:solidFill>
          <a:ln/>
        </p:spPr>
        <p:txBody>
          <a:bodyPr/>
          <a:lstStyle/>
          <a:p>
            <a:endParaRPr lang="en-IN"/>
          </a:p>
        </p:txBody>
      </p:sp>
      <p:sp>
        <p:nvSpPr>
          <p:cNvPr id="24" name="Text 22"/>
          <p:cNvSpPr/>
          <p:nvPr/>
        </p:nvSpPr>
        <p:spPr>
          <a:xfrm>
            <a:off x="6428232" y="3319272"/>
            <a:ext cx="4983480"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7. Campaigns &amp; Returns</a:t>
            </a:r>
            <a:endParaRPr lang="en-US" sz="1250" dirty="0"/>
          </a:p>
        </p:txBody>
      </p:sp>
      <p:sp>
        <p:nvSpPr>
          <p:cNvPr id="25" name="Text 23"/>
          <p:cNvSpPr/>
          <p:nvPr/>
        </p:nvSpPr>
        <p:spPr>
          <a:xfrm>
            <a:off x="6428232" y="3566160"/>
            <a:ext cx="4983480" cy="3657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Return reasons, refund status, campaign spend vs. revenue</a:t>
            </a:r>
            <a:endParaRPr lang="en-US" sz="1000" dirty="0"/>
          </a:p>
        </p:txBody>
      </p:sp>
      <p:sp>
        <p:nvSpPr>
          <p:cNvPr id="26" name="Shape 24"/>
          <p:cNvSpPr/>
          <p:nvPr/>
        </p:nvSpPr>
        <p:spPr>
          <a:xfrm>
            <a:off x="548640" y="5257800"/>
            <a:ext cx="11064240" cy="1051560"/>
          </a:xfrm>
          <a:prstGeom prst="roundRect">
            <a:avLst>
              <a:gd name="adj" fmla="val 6957"/>
            </a:avLst>
          </a:prstGeom>
          <a:solidFill>
            <a:srgbClr val="121D33"/>
          </a:solidFill>
          <a:ln/>
        </p:spPr>
        <p:txBody>
          <a:bodyPr/>
          <a:lstStyle/>
          <a:p>
            <a:endParaRPr lang="en-IN"/>
          </a:p>
        </p:txBody>
      </p:sp>
      <p:sp>
        <p:nvSpPr>
          <p:cNvPr id="27" name="Text 25"/>
          <p:cNvSpPr/>
          <p:nvPr/>
        </p:nvSpPr>
        <p:spPr>
          <a:xfrm>
            <a:off x="777240" y="5394960"/>
            <a:ext cx="10607040" cy="822960"/>
          </a:xfrm>
          <a:prstGeom prst="rect">
            <a:avLst/>
          </a:prstGeom>
          <a:noFill/>
          <a:ln/>
        </p:spPr>
        <p:txBody>
          <a:bodyPr wrap="square" rtlCol="0" anchor="ctr"/>
          <a:lstStyle/>
          <a:p>
            <a:pPr marL="0" indent="0">
              <a:lnSpc>
                <a:spcPct val="125000"/>
              </a:lnSpc>
              <a:buNone/>
            </a:pPr>
            <a:r>
              <a:rPr lang="en-US" sz="1150" dirty="0">
                <a:solidFill>
                  <a:srgbClr val="7EA8E0"/>
                </a:solidFill>
                <a:latin typeface="Courier New" pitchFamily="34" charset="0"/>
                <a:ea typeface="Courier New" pitchFamily="34" charset="-122"/>
                <a:cs typeface="Courier New" pitchFamily="34" charset="-120"/>
              </a:rPr>
              <a:t>select </a:t>
            </a:r>
            <a:r>
              <a:rPr lang="en-US" sz="1150" dirty="0">
                <a:solidFill>
                  <a:srgbClr val="FFFFFF"/>
                </a:solidFill>
                <a:latin typeface="Courier New" pitchFamily="34" charset="0"/>
                <a:ea typeface="Courier New" pitchFamily="34" charset="-122"/>
                <a:cs typeface="Courier New" pitchFamily="34" charset="-120"/>
              </a:rPr>
              <a:t>customer_segment, concat(round(avg(total_spend_lifetime_inr)/1000,2),' K') </a:t>
            </a:r>
            <a:r>
              <a:rPr lang="en-US" sz="1150" dirty="0">
                <a:solidFill>
                  <a:srgbClr val="7EA8E0"/>
                </a:solidFill>
                <a:latin typeface="Courier New" pitchFamily="34" charset="0"/>
                <a:ea typeface="Courier New" pitchFamily="34" charset="-122"/>
                <a:cs typeface="Courier New" pitchFamily="34" charset="-120"/>
              </a:rPr>
              <a:t>as </a:t>
            </a:r>
            <a:r>
              <a:rPr lang="en-US" sz="1150" dirty="0">
                <a:solidFill>
                  <a:srgbClr val="FFFFFF"/>
                </a:solidFill>
                <a:latin typeface="Courier New" pitchFamily="34" charset="0"/>
                <a:ea typeface="Courier New" pitchFamily="34" charset="-122"/>
                <a:cs typeface="Courier New" pitchFamily="34" charset="-120"/>
              </a:rPr>
              <a:t>average_clv
</a:t>
            </a:r>
            <a:r>
              <a:rPr lang="en-US" sz="1150" dirty="0">
                <a:solidFill>
                  <a:srgbClr val="7EA8E0"/>
                </a:solidFill>
                <a:latin typeface="Courier New" pitchFamily="34" charset="0"/>
                <a:ea typeface="Courier New" pitchFamily="34" charset="-122"/>
                <a:cs typeface="Courier New" pitchFamily="34" charset="-120"/>
              </a:rPr>
              <a:t>from </a:t>
            </a:r>
            <a:r>
              <a:rPr lang="en-US" sz="1150" dirty="0">
                <a:solidFill>
                  <a:srgbClr val="FFFFFF"/>
                </a:solidFill>
                <a:latin typeface="Courier New" pitchFamily="34" charset="0"/>
                <a:ea typeface="Courier New" pitchFamily="34" charset="-122"/>
                <a:cs typeface="Courier New" pitchFamily="34" charset="-120"/>
              </a:rPr>
              <a:t>customers </a:t>
            </a:r>
            <a:r>
              <a:rPr lang="en-US" sz="1150" dirty="0">
                <a:solidFill>
                  <a:srgbClr val="7EA8E0"/>
                </a:solidFill>
                <a:latin typeface="Courier New" pitchFamily="34" charset="0"/>
                <a:ea typeface="Courier New" pitchFamily="34" charset="-122"/>
                <a:cs typeface="Courier New" pitchFamily="34" charset="-120"/>
              </a:rPr>
              <a:t>group by </a:t>
            </a:r>
            <a:r>
              <a:rPr lang="en-US" sz="1150" dirty="0">
                <a:solidFill>
                  <a:srgbClr val="FFFFFF"/>
                </a:solidFill>
                <a:latin typeface="Courier New" pitchFamily="34" charset="0"/>
                <a:ea typeface="Courier New" pitchFamily="34" charset="-122"/>
                <a:cs typeface="Courier New" pitchFamily="34" charset="-120"/>
              </a:rPr>
              <a:t>customer_segment </a:t>
            </a:r>
            <a:r>
              <a:rPr lang="en-US" sz="1150" dirty="0">
                <a:solidFill>
                  <a:srgbClr val="7EA8E0"/>
                </a:solidFill>
                <a:latin typeface="Courier New" pitchFamily="34" charset="0"/>
                <a:ea typeface="Courier New" pitchFamily="34" charset="-122"/>
                <a:cs typeface="Courier New" pitchFamily="34" charset="-120"/>
              </a:rPr>
              <a:t>order by </a:t>
            </a:r>
            <a:r>
              <a:rPr lang="en-US" sz="1150" dirty="0">
                <a:solidFill>
                  <a:srgbClr val="FFFFFF"/>
                </a:solidFill>
                <a:latin typeface="Courier New" pitchFamily="34" charset="0"/>
                <a:ea typeface="Courier New" pitchFamily="34" charset="-122"/>
                <a:cs typeface="Courier New" pitchFamily="34" charset="-120"/>
              </a:rPr>
              <a:t>avg(total_spend_lifetime_inr) desc;</a:t>
            </a:r>
            <a:endParaRPr lang="en-US" sz="1150" dirty="0"/>
          </a:p>
        </p:txBody>
      </p:sp>
      <p:sp>
        <p:nvSpPr>
          <p:cNvPr id="28" name="Text 26"/>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9" name="Text 2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EXCEL DASHBOARD · 01</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Executive Overview</a:t>
            </a:r>
            <a:endParaRPr lang="en-US" sz="2600" dirty="0"/>
          </a:p>
        </p:txBody>
      </p:sp>
      <p:sp>
        <p:nvSpPr>
          <p:cNvPr id="4" name="Shape 2"/>
          <p:cNvSpPr/>
          <p:nvPr/>
        </p:nvSpPr>
        <p:spPr>
          <a:xfrm>
            <a:off x="502920" y="1463040"/>
            <a:ext cx="7452360" cy="4434840"/>
          </a:xfrm>
          <a:prstGeom prst="roundRect">
            <a:avLst>
              <a:gd name="adj" fmla="val 1237"/>
            </a:avLst>
          </a:prstGeom>
          <a:solidFill>
            <a:srgbClr val="E8EEF9"/>
          </a:solidFill>
          <a:ln/>
          <a:effectLst>
            <a:outerShdw blurRad="101600" dist="25400" dir="5400000" algn="bl" rotWithShape="0">
              <a:srgbClr val="1B2A4A">
                <a:alpha val="18000"/>
              </a:srgbClr>
            </a:outerShdw>
          </a:effectLst>
        </p:spPr>
        <p:txBody>
          <a:bodyPr/>
          <a:lstStyle/>
          <a:p>
            <a:endParaRPr lang="en-IN"/>
          </a:p>
        </p:txBody>
      </p:sp>
      <p:sp>
        <p:nvSpPr>
          <p:cNvPr id="6" name="Shape 3"/>
          <p:cNvSpPr/>
          <p:nvPr/>
        </p:nvSpPr>
        <p:spPr>
          <a:xfrm>
            <a:off x="8183880" y="1463040"/>
            <a:ext cx="3474720" cy="4434840"/>
          </a:xfrm>
          <a:prstGeom prst="roundRect">
            <a:avLst>
              <a:gd name="adj" fmla="val 2105"/>
            </a:avLst>
          </a:prstGeom>
          <a:solidFill>
            <a:srgbClr val="1B2A4A"/>
          </a:solidFill>
          <a:ln/>
        </p:spPr>
        <p:txBody>
          <a:bodyPr/>
          <a:lstStyle/>
          <a:p>
            <a:endParaRPr lang="en-IN"/>
          </a:p>
        </p:txBody>
      </p:sp>
      <p:sp>
        <p:nvSpPr>
          <p:cNvPr id="7" name="Text 4"/>
          <p:cNvSpPr/>
          <p:nvPr/>
        </p:nvSpPr>
        <p:spPr>
          <a:xfrm>
            <a:off x="8503920" y="1691640"/>
            <a:ext cx="2834640" cy="27432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KEY TAKEAWAYS</a:t>
            </a:r>
            <a:endParaRPr lang="en-US" sz="1100" dirty="0"/>
          </a:p>
        </p:txBody>
      </p:sp>
      <p:sp>
        <p:nvSpPr>
          <p:cNvPr id="8" name="Shape 5"/>
          <p:cNvSpPr/>
          <p:nvPr/>
        </p:nvSpPr>
        <p:spPr>
          <a:xfrm>
            <a:off x="8503920" y="2203704"/>
            <a:ext cx="91440" cy="91440"/>
          </a:xfrm>
          <a:prstGeom prst="ellipse">
            <a:avLst/>
          </a:prstGeom>
          <a:solidFill>
            <a:srgbClr val="F2994A"/>
          </a:solidFill>
          <a:ln/>
        </p:spPr>
        <p:txBody>
          <a:bodyPr/>
          <a:lstStyle/>
          <a:p>
            <a:endParaRPr lang="en-IN"/>
          </a:p>
        </p:txBody>
      </p:sp>
      <p:sp>
        <p:nvSpPr>
          <p:cNvPr id="9" name="Text 6"/>
          <p:cNvSpPr/>
          <p:nvPr/>
        </p:nvSpPr>
        <p:spPr>
          <a:xfrm>
            <a:off x="8732520" y="2029968"/>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₹140.37M in total revenue across 7,562 orders (AOV ≈ ₹18,563)</a:t>
            </a:r>
            <a:endParaRPr lang="en-US" sz="1050" dirty="0"/>
          </a:p>
        </p:txBody>
      </p:sp>
      <p:sp>
        <p:nvSpPr>
          <p:cNvPr id="10" name="Shape 7"/>
          <p:cNvSpPr/>
          <p:nvPr/>
        </p:nvSpPr>
        <p:spPr>
          <a:xfrm>
            <a:off x="8503920" y="3054096"/>
            <a:ext cx="91440" cy="91440"/>
          </a:xfrm>
          <a:prstGeom prst="ellipse">
            <a:avLst/>
          </a:prstGeom>
          <a:solidFill>
            <a:srgbClr val="F2994A"/>
          </a:solidFill>
          <a:ln/>
        </p:spPr>
        <p:txBody>
          <a:bodyPr/>
          <a:lstStyle/>
          <a:p>
            <a:endParaRPr lang="en-IN"/>
          </a:p>
        </p:txBody>
      </p:sp>
      <p:sp>
        <p:nvSpPr>
          <p:cNvPr id="11" name="Text 8"/>
          <p:cNvSpPr/>
          <p:nvPr/>
        </p:nvSpPr>
        <p:spPr>
          <a:xfrm>
            <a:off x="8732520" y="2880360"/>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Electronics drives ₹108.19M — over 75% of total sales</a:t>
            </a:r>
            <a:endParaRPr lang="en-US" sz="1050" dirty="0"/>
          </a:p>
        </p:txBody>
      </p:sp>
      <p:sp>
        <p:nvSpPr>
          <p:cNvPr id="12" name="Shape 9"/>
          <p:cNvSpPr/>
          <p:nvPr/>
        </p:nvSpPr>
        <p:spPr>
          <a:xfrm>
            <a:off x="8503920" y="3904488"/>
            <a:ext cx="91440" cy="91440"/>
          </a:xfrm>
          <a:prstGeom prst="ellipse">
            <a:avLst/>
          </a:prstGeom>
          <a:solidFill>
            <a:srgbClr val="F2994A"/>
          </a:solidFill>
          <a:ln/>
        </p:spPr>
        <p:txBody>
          <a:bodyPr/>
          <a:lstStyle/>
          <a:p>
            <a:endParaRPr lang="en-IN"/>
          </a:p>
        </p:txBody>
      </p:sp>
      <p:sp>
        <p:nvSpPr>
          <p:cNvPr id="13" name="Text 10"/>
          <p:cNvSpPr/>
          <p:nvPr/>
        </p:nvSpPr>
        <p:spPr>
          <a:xfrm>
            <a:off x="8732520" y="3730752"/>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Sony, Apple &amp; Samsung are the top 3 revenue brands</a:t>
            </a:r>
            <a:endParaRPr lang="en-US" sz="1050" dirty="0"/>
          </a:p>
        </p:txBody>
      </p:sp>
      <p:sp>
        <p:nvSpPr>
          <p:cNvPr id="14" name="Shape 11"/>
          <p:cNvSpPr/>
          <p:nvPr/>
        </p:nvSpPr>
        <p:spPr>
          <a:xfrm>
            <a:off x="8503920" y="4754880"/>
            <a:ext cx="91440" cy="91440"/>
          </a:xfrm>
          <a:prstGeom prst="ellipse">
            <a:avLst/>
          </a:prstGeom>
          <a:solidFill>
            <a:srgbClr val="F2994A"/>
          </a:solidFill>
          <a:ln/>
        </p:spPr>
        <p:txBody>
          <a:bodyPr/>
          <a:lstStyle/>
          <a:p>
            <a:endParaRPr lang="en-IN"/>
          </a:p>
        </p:txBody>
      </p:sp>
      <p:sp>
        <p:nvSpPr>
          <p:cNvPr id="15" name="Text 12"/>
          <p:cNvSpPr/>
          <p:nvPr/>
        </p:nvSpPr>
        <p:spPr>
          <a:xfrm>
            <a:off x="8732520" y="4581144"/>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Website &amp; Mobile App together generate ~87% of orders</a:t>
            </a:r>
            <a:endParaRPr lang="en-US" sz="1050" dirty="0"/>
          </a:p>
        </p:txBody>
      </p:sp>
      <p:sp>
        <p:nvSpPr>
          <p:cNvPr id="16" name="Shape 13"/>
          <p:cNvSpPr/>
          <p:nvPr/>
        </p:nvSpPr>
        <p:spPr>
          <a:xfrm>
            <a:off x="8503920" y="5605272"/>
            <a:ext cx="91440" cy="91440"/>
          </a:xfrm>
          <a:prstGeom prst="ellipse">
            <a:avLst/>
          </a:prstGeom>
          <a:solidFill>
            <a:srgbClr val="F2994A"/>
          </a:solidFill>
          <a:ln/>
        </p:spPr>
        <p:txBody>
          <a:bodyPr/>
          <a:lstStyle/>
          <a:p>
            <a:endParaRPr lang="en-IN"/>
          </a:p>
        </p:txBody>
      </p:sp>
      <p:sp>
        <p:nvSpPr>
          <p:cNvPr id="17" name="Text 14"/>
          <p:cNvSpPr/>
          <p:nvPr/>
        </p:nvSpPr>
        <p:spPr>
          <a:xfrm>
            <a:off x="8732520" y="5431536"/>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80% of orders reach ‘Delivered’ status</a:t>
            </a:r>
            <a:endParaRPr lang="en-US" sz="1050" dirty="0"/>
          </a:p>
        </p:txBody>
      </p:sp>
      <p:sp>
        <p:nvSpPr>
          <p:cNvPr id="18" name="Text 1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19"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6</a:t>
            </a:r>
            <a:endParaRPr lang="en-US" sz="900" dirty="0"/>
          </a:p>
        </p:txBody>
      </p:sp>
      <p:pic>
        <p:nvPicPr>
          <p:cNvPr id="23" name="Picture 22">
            <a:extLst>
              <a:ext uri="{FF2B5EF4-FFF2-40B4-BE49-F238E27FC236}">
                <a16:creationId xmlns:a16="http://schemas.microsoft.com/office/drawing/2014/main" id="{09BE7494-741D-CC35-773D-F2F2568B1772}"/>
              </a:ext>
            </a:extLst>
          </p:cNvPr>
          <p:cNvPicPr>
            <a:picLocks noChangeAspect="1"/>
          </p:cNvPicPr>
          <p:nvPr/>
        </p:nvPicPr>
        <p:blipFill>
          <a:blip r:embed="rId3"/>
          <a:stretch>
            <a:fillRect/>
          </a:stretch>
        </p:blipFill>
        <p:spPr>
          <a:xfrm>
            <a:off x="716280" y="1572768"/>
            <a:ext cx="6962086" cy="42638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EXCEL DASHBOARD · 02</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Customer Analysis</a:t>
            </a:r>
            <a:endParaRPr lang="en-US" sz="2600" dirty="0"/>
          </a:p>
        </p:txBody>
      </p:sp>
      <p:sp>
        <p:nvSpPr>
          <p:cNvPr id="4" name="Shape 2"/>
          <p:cNvSpPr/>
          <p:nvPr/>
        </p:nvSpPr>
        <p:spPr>
          <a:xfrm>
            <a:off x="502920" y="1463040"/>
            <a:ext cx="7452360" cy="4434840"/>
          </a:xfrm>
          <a:prstGeom prst="roundRect">
            <a:avLst>
              <a:gd name="adj" fmla="val 1237"/>
            </a:avLst>
          </a:prstGeom>
          <a:solidFill>
            <a:srgbClr val="E8EEF9"/>
          </a:solidFill>
          <a:ln/>
          <a:effectLst>
            <a:outerShdw blurRad="101600" dist="25400" dir="5400000" algn="bl" rotWithShape="0">
              <a:srgbClr val="1B2A4A">
                <a:alpha val="18000"/>
              </a:srgbClr>
            </a:outerShdw>
          </a:effectLst>
        </p:spPr>
        <p:txBody>
          <a:bodyPr/>
          <a:lstStyle/>
          <a:p>
            <a:endParaRPr lang="en-IN"/>
          </a:p>
        </p:txBody>
      </p:sp>
      <p:sp>
        <p:nvSpPr>
          <p:cNvPr id="6" name="Shape 3"/>
          <p:cNvSpPr/>
          <p:nvPr/>
        </p:nvSpPr>
        <p:spPr>
          <a:xfrm>
            <a:off x="8183880" y="1463040"/>
            <a:ext cx="3474720" cy="4434840"/>
          </a:xfrm>
          <a:prstGeom prst="roundRect">
            <a:avLst>
              <a:gd name="adj" fmla="val 2105"/>
            </a:avLst>
          </a:prstGeom>
          <a:solidFill>
            <a:srgbClr val="1B2A4A"/>
          </a:solidFill>
          <a:ln/>
        </p:spPr>
        <p:txBody>
          <a:bodyPr/>
          <a:lstStyle/>
          <a:p>
            <a:endParaRPr lang="en-IN"/>
          </a:p>
        </p:txBody>
      </p:sp>
      <p:sp>
        <p:nvSpPr>
          <p:cNvPr id="7" name="Text 4"/>
          <p:cNvSpPr/>
          <p:nvPr/>
        </p:nvSpPr>
        <p:spPr>
          <a:xfrm>
            <a:off x="8503920" y="1691640"/>
            <a:ext cx="2834640" cy="27432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KEY TAKEAWAYS</a:t>
            </a:r>
            <a:endParaRPr lang="en-US" sz="1100" dirty="0"/>
          </a:p>
        </p:txBody>
      </p:sp>
      <p:sp>
        <p:nvSpPr>
          <p:cNvPr id="8" name="Shape 5"/>
          <p:cNvSpPr/>
          <p:nvPr/>
        </p:nvSpPr>
        <p:spPr>
          <a:xfrm>
            <a:off x="8503920" y="2203704"/>
            <a:ext cx="91440" cy="91440"/>
          </a:xfrm>
          <a:prstGeom prst="ellipse">
            <a:avLst/>
          </a:prstGeom>
          <a:solidFill>
            <a:srgbClr val="F2994A"/>
          </a:solidFill>
          <a:ln/>
        </p:spPr>
        <p:txBody>
          <a:bodyPr/>
          <a:lstStyle/>
          <a:p>
            <a:endParaRPr lang="en-IN"/>
          </a:p>
        </p:txBody>
      </p:sp>
      <p:sp>
        <p:nvSpPr>
          <p:cNvPr id="9" name="Text 6"/>
          <p:cNvSpPr/>
          <p:nvPr/>
        </p:nvSpPr>
        <p:spPr>
          <a:xfrm>
            <a:off x="8732520" y="2029968"/>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4,428 repeat orders vs. 3,134 first-time — loyalty is a strong revenue lever</a:t>
            </a:r>
            <a:endParaRPr lang="en-US" sz="1050" dirty="0"/>
          </a:p>
        </p:txBody>
      </p:sp>
      <p:sp>
        <p:nvSpPr>
          <p:cNvPr id="10" name="Shape 7"/>
          <p:cNvSpPr/>
          <p:nvPr/>
        </p:nvSpPr>
        <p:spPr>
          <a:xfrm>
            <a:off x="8503920" y="3054096"/>
            <a:ext cx="91440" cy="91440"/>
          </a:xfrm>
          <a:prstGeom prst="ellipse">
            <a:avLst/>
          </a:prstGeom>
          <a:solidFill>
            <a:srgbClr val="F2994A"/>
          </a:solidFill>
          <a:ln/>
        </p:spPr>
        <p:txBody>
          <a:bodyPr/>
          <a:lstStyle/>
          <a:p>
            <a:endParaRPr lang="en-IN"/>
          </a:p>
        </p:txBody>
      </p:sp>
      <p:sp>
        <p:nvSpPr>
          <p:cNvPr id="11" name="Text 8"/>
          <p:cNvSpPr/>
          <p:nvPr/>
        </p:nvSpPr>
        <p:spPr>
          <a:xfrm>
            <a:off x="8732520" y="2880360"/>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Credit Card &amp; UPI lead the payment mix, together ~55% of orders</a:t>
            </a:r>
            <a:endParaRPr lang="en-US" sz="1050" dirty="0"/>
          </a:p>
        </p:txBody>
      </p:sp>
      <p:sp>
        <p:nvSpPr>
          <p:cNvPr id="12" name="Shape 9"/>
          <p:cNvSpPr/>
          <p:nvPr/>
        </p:nvSpPr>
        <p:spPr>
          <a:xfrm>
            <a:off x="8503920" y="3904488"/>
            <a:ext cx="91440" cy="91440"/>
          </a:xfrm>
          <a:prstGeom prst="ellipse">
            <a:avLst/>
          </a:prstGeom>
          <a:solidFill>
            <a:srgbClr val="F2994A"/>
          </a:solidFill>
          <a:ln/>
        </p:spPr>
        <p:txBody>
          <a:bodyPr/>
          <a:lstStyle/>
          <a:p>
            <a:endParaRPr lang="en-IN"/>
          </a:p>
        </p:txBody>
      </p:sp>
      <p:sp>
        <p:nvSpPr>
          <p:cNvPr id="13" name="Text 10"/>
          <p:cNvSpPr/>
          <p:nvPr/>
        </p:nvSpPr>
        <p:spPr>
          <a:xfrm>
            <a:off x="8732520" y="3730752"/>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Mobile App (3,843 orders) outpaces Website (2,778) and Social Commerce</a:t>
            </a:r>
            <a:endParaRPr lang="en-US" sz="1050" dirty="0"/>
          </a:p>
        </p:txBody>
      </p:sp>
      <p:sp>
        <p:nvSpPr>
          <p:cNvPr id="14" name="Shape 11"/>
          <p:cNvSpPr/>
          <p:nvPr/>
        </p:nvSpPr>
        <p:spPr>
          <a:xfrm>
            <a:off x="8503920" y="4754880"/>
            <a:ext cx="91440" cy="91440"/>
          </a:xfrm>
          <a:prstGeom prst="ellipse">
            <a:avLst/>
          </a:prstGeom>
          <a:solidFill>
            <a:srgbClr val="F2994A"/>
          </a:solidFill>
          <a:ln/>
        </p:spPr>
        <p:txBody>
          <a:bodyPr/>
          <a:lstStyle/>
          <a:p>
            <a:endParaRPr lang="en-IN"/>
          </a:p>
        </p:txBody>
      </p:sp>
      <p:sp>
        <p:nvSpPr>
          <p:cNvPr id="15" name="Text 12"/>
          <p:cNvSpPr/>
          <p:nvPr/>
        </p:nvSpPr>
        <p:spPr>
          <a:xfrm>
            <a:off x="8732520" y="4581144"/>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Top 10 customers each contribute ₹6–8 lakh in lifetime sales</a:t>
            </a:r>
            <a:endParaRPr lang="en-US" sz="1050" dirty="0"/>
          </a:p>
        </p:txBody>
      </p:sp>
      <p:sp>
        <p:nvSpPr>
          <p:cNvPr id="16" name="Shape 13"/>
          <p:cNvSpPr/>
          <p:nvPr/>
        </p:nvSpPr>
        <p:spPr>
          <a:xfrm>
            <a:off x="8503920" y="5605272"/>
            <a:ext cx="91440" cy="91440"/>
          </a:xfrm>
          <a:prstGeom prst="ellipse">
            <a:avLst/>
          </a:prstGeom>
          <a:solidFill>
            <a:srgbClr val="F2994A"/>
          </a:solidFill>
          <a:ln/>
        </p:spPr>
        <p:txBody>
          <a:bodyPr/>
          <a:lstStyle/>
          <a:p>
            <a:endParaRPr lang="en-IN"/>
          </a:p>
        </p:txBody>
      </p:sp>
      <p:sp>
        <p:nvSpPr>
          <p:cNvPr id="17" name="Text 14"/>
          <p:cNvSpPr/>
          <p:nvPr/>
        </p:nvSpPr>
        <p:spPr>
          <a:xfrm>
            <a:off x="8732520" y="5431536"/>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Segments range from New to VIP, with VIP customers spending far above average</a:t>
            </a:r>
            <a:endParaRPr lang="en-US" sz="1050" dirty="0"/>
          </a:p>
        </p:txBody>
      </p:sp>
      <p:sp>
        <p:nvSpPr>
          <p:cNvPr id="18" name="Text 1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19"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7</a:t>
            </a:r>
            <a:endParaRPr lang="en-US" sz="900" dirty="0"/>
          </a:p>
        </p:txBody>
      </p:sp>
      <p:pic>
        <p:nvPicPr>
          <p:cNvPr id="21" name="Picture 20">
            <a:extLst>
              <a:ext uri="{FF2B5EF4-FFF2-40B4-BE49-F238E27FC236}">
                <a16:creationId xmlns:a16="http://schemas.microsoft.com/office/drawing/2014/main" id="{58BB9FB0-6673-88A1-4738-30051CAF6E54}"/>
              </a:ext>
            </a:extLst>
          </p:cNvPr>
          <p:cNvPicPr>
            <a:picLocks noChangeAspect="1"/>
          </p:cNvPicPr>
          <p:nvPr/>
        </p:nvPicPr>
        <p:blipFill>
          <a:blip r:embed="rId3"/>
          <a:stretch>
            <a:fillRect/>
          </a:stretch>
        </p:blipFill>
        <p:spPr>
          <a:xfrm>
            <a:off x="586247" y="1567385"/>
            <a:ext cx="7323313" cy="43028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EXCEL DASHBOARD · 03</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Product Analysis</a:t>
            </a:r>
            <a:endParaRPr lang="en-US" sz="2600" dirty="0"/>
          </a:p>
        </p:txBody>
      </p:sp>
      <p:sp>
        <p:nvSpPr>
          <p:cNvPr id="4" name="Shape 2"/>
          <p:cNvSpPr/>
          <p:nvPr/>
        </p:nvSpPr>
        <p:spPr>
          <a:xfrm>
            <a:off x="502920" y="1463040"/>
            <a:ext cx="7452360" cy="4434840"/>
          </a:xfrm>
          <a:prstGeom prst="roundRect">
            <a:avLst>
              <a:gd name="adj" fmla="val 1237"/>
            </a:avLst>
          </a:prstGeom>
          <a:solidFill>
            <a:srgbClr val="E8EEF9"/>
          </a:solidFill>
          <a:ln/>
          <a:effectLst>
            <a:outerShdw blurRad="101600" dist="25400" dir="5400000" algn="bl" rotWithShape="0">
              <a:srgbClr val="1B2A4A">
                <a:alpha val="18000"/>
              </a:srgbClr>
            </a:outerShdw>
          </a:effectLst>
        </p:spPr>
        <p:txBody>
          <a:bodyPr/>
          <a:lstStyle/>
          <a:p>
            <a:endParaRPr lang="en-IN"/>
          </a:p>
        </p:txBody>
      </p:sp>
      <p:sp>
        <p:nvSpPr>
          <p:cNvPr id="6" name="Shape 3"/>
          <p:cNvSpPr/>
          <p:nvPr/>
        </p:nvSpPr>
        <p:spPr>
          <a:xfrm>
            <a:off x="8183880" y="1463040"/>
            <a:ext cx="3474720" cy="4434840"/>
          </a:xfrm>
          <a:prstGeom prst="roundRect">
            <a:avLst>
              <a:gd name="adj" fmla="val 2105"/>
            </a:avLst>
          </a:prstGeom>
          <a:solidFill>
            <a:srgbClr val="1B2A4A"/>
          </a:solidFill>
          <a:ln/>
        </p:spPr>
        <p:txBody>
          <a:bodyPr/>
          <a:lstStyle/>
          <a:p>
            <a:endParaRPr lang="en-IN"/>
          </a:p>
        </p:txBody>
      </p:sp>
      <p:sp>
        <p:nvSpPr>
          <p:cNvPr id="7" name="Text 4"/>
          <p:cNvSpPr/>
          <p:nvPr/>
        </p:nvSpPr>
        <p:spPr>
          <a:xfrm>
            <a:off x="8503920" y="1691640"/>
            <a:ext cx="2834640" cy="27432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KEY TAKEAWAYS</a:t>
            </a:r>
            <a:endParaRPr lang="en-US" sz="1100" dirty="0"/>
          </a:p>
        </p:txBody>
      </p:sp>
      <p:sp>
        <p:nvSpPr>
          <p:cNvPr id="8" name="Shape 5"/>
          <p:cNvSpPr/>
          <p:nvPr/>
        </p:nvSpPr>
        <p:spPr>
          <a:xfrm>
            <a:off x="8503920" y="2203704"/>
            <a:ext cx="91440" cy="91440"/>
          </a:xfrm>
          <a:prstGeom prst="ellipse">
            <a:avLst/>
          </a:prstGeom>
          <a:solidFill>
            <a:srgbClr val="F2994A"/>
          </a:solidFill>
          <a:ln/>
        </p:spPr>
        <p:txBody>
          <a:bodyPr/>
          <a:lstStyle/>
          <a:p>
            <a:endParaRPr lang="en-IN"/>
          </a:p>
        </p:txBody>
      </p:sp>
      <p:sp>
        <p:nvSpPr>
          <p:cNvPr id="9" name="Text 6"/>
          <p:cNvSpPr/>
          <p:nvPr/>
        </p:nvSpPr>
        <p:spPr>
          <a:xfrm>
            <a:off x="8732520" y="2029968"/>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Electronics dominates the category mix at ₹108.19M of ₹140M total sales</a:t>
            </a:r>
            <a:endParaRPr lang="en-US" sz="1050" dirty="0"/>
          </a:p>
        </p:txBody>
      </p:sp>
      <p:sp>
        <p:nvSpPr>
          <p:cNvPr id="10" name="Shape 7"/>
          <p:cNvSpPr/>
          <p:nvPr/>
        </p:nvSpPr>
        <p:spPr>
          <a:xfrm>
            <a:off x="8503920" y="3054096"/>
            <a:ext cx="91440" cy="91440"/>
          </a:xfrm>
          <a:prstGeom prst="ellipse">
            <a:avLst/>
          </a:prstGeom>
          <a:solidFill>
            <a:srgbClr val="F2994A"/>
          </a:solidFill>
          <a:ln/>
        </p:spPr>
        <p:txBody>
          <a:bodyPr/>
          <a:lstStyle/>
          <a:p>
            <a:endParaRPr lang="en-IN"/>
          </a:p>
        </p:txBody>
      </p:sp>
      <p:sp>
        <p:nvSpPr>
          <p:cNvPr id="11" name="Text 8"/>
          <p:cNvSpPr/>
          <p:nvPr/>
        </p:nvSpPr>
        <p:spPr>
          <a:xfrm>
            <a:off x="8732520" y="2880360"/>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Sony (₹14.6M) and Apple (₹17.3M) are the highest-selling brands</a:t>
            </a:r>
            <a:endParaRPr lang="en-US" sz="1050" dirty="0"/>
          </a:p>
        </p:txBody>
      </p:sp>
      <p:sp>
        <p:nvSpPr>
          <p:cNvPr id="12" name="Shape 9"/>
          <p:cNvSpPr/>
          <p:nvPr/>
        </p:nvSpPr>
        <p:spPr>
          <a:xfrm>
            <a:off x="8503920" y="3904488"/>
            <a:ext cx="91440" cy="91440"/>
          </a:xfrm>
          <a:prstGeom prst="ellipse">
            <a:avLst/>
          </a:prstGeom>
          <a:solidFill>
            <a:srgbClr val="F2994A"/>
          </a:solidFill>
          <a:ln/>
        </p:spPr>
        <p:txBody>
          <a:bodyPr/>
          <a:lstStyle/>
          <a:p>
            <a:endParaRPr lang="en-IN"/>
          </a:p>
        </p:txBody>
      </p:sp>
      <p:sp>
        <p:nvSpPr>
          <p:cNvPr id="13" name="Text 10"/>
          <p:cNvSpPr/>
          <p:nvPr/>
        </p:nvSpPr>
        <p:spPr>
          <a:xfrm>
            <a:off x="8732520" y="3730752"/>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iPhone 14 128GB and Sony Alpha ZV-E10 are standout individual SKUs</a:t>
            </a:r>
            <a:endParaRPr lang="en-US" sz="1050" dirty="0"/>
          </a:p>
        </p:txBody>
      </p:sp>
      <p:sp>
        <p:nvSpPr>
          <p:cNvPr id="14" name="Shape 11"/>
          <p:cNvSpPr/>
          <p:nvPr/>
        </p:nvSpPr>
        <p:spPr>
          <a:xfrm>
            <a:off x="8503920" y="4754880"/>
            <a:ext cx="91440" cy="91440"/>
          </a:xfrm>
          <a:prstGeom prst="ellipse">
            <a:avLst/>
          </a:prstGeom>
          <a:solidFill>
            <a:srgbClr val="F2994A"/>
          </a:solidFill>
          <a:ln/>
        </p:spPr>
        <p:txBody>
          <a:bodyPr/>
          <a:lstStyle/>
          <a:p>
            <a:endParaRPr lang="en-IN"/>
          </a:p>
        </p:txBody>
      </p:sp>
      <p:sp>
        <p:nvSpPr>
          <p:cNvPr id="15" name="Text 12"/>
          <p:cNvSpPr/>
          <p:nvPr/>
        </p:nvSpPr>
        <p:spPr>
          <a:xfrm>
            <a:off x="8732520" y="4581144"/>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Sales trend spikes sharply in Oct–Nov, pointing to a festive/sale-season effect</a:t>
            </a:r>
            <a:endParaRPr lang="en-US" sz="1050" dirty="0"/>
          </a:p>
        </p:txBody>
      </p:sp>
      <p:sp>
        <p:nvSpPr>
          <p:cNvPr id="16" name="Shape 13"/>
          <p:cNvSpPr/>
          <p:nvPr/>
        </p:nvSpPr>
        <p:spPr>
          <a:xfrm>
            <a:off x="8503920" y="5605272"/>
            <a:ext cx="91440" cy="91440"/>
          </a:xfrm>
          <a:prstGeom prst="ellipse">
            <a:avLst/>
          </a:prstGeom>
          <a:solidFill>
            <a:srgbClr val="F2994A"/>
          </a:solidFill>
          <a:ln/>
        </p:spPr>
        <p:txBody>
          <a:bodyPr/>
          <a:lstStyle/>
          <a:p>
            <a:endParaRPr lang="en-IN"/>
          </a:p>
        </p:txBody>
      </p:sp>
      <p:sp>
        <p:nvSpPr>
          <p:cNvPr id="17" name="Text 14"/>
          <p:cNvSpPr/>
          <p:nvPr/>
        </p:nvSpPr>
        <p:spPr>
          <a:xfrm>
            <a:off x="8732520" y="5431536"/>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87 active SKUs across 6 categories keep the catalogue tightly curated</a:t>
            </a:r>
            <a:endParaRPr lang="en-US" sz="1050" dirty="0"/>
          </a:p>
        </p:txBody>
      </p:sp>
      <p:sp>
        <p:nvSpPr>
          <p:cNvPr id="18" name="Text 1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19"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8</a:t>
            </a:r>
            <a:endParaRPr lang="en-US" sz="900" dirty="0"/>
          </a:p>
        </p:txBody>
      </p:sp>
      <p:pic>
        <p:nvPicPr>
          <p:cNvPr id="21" name="Picture 20">
            <a:extLst>
              <a:ext uri="{FF2B5EF4-FFF2-40B4-BE49-F238E27FC236}">
                <a16:creationId xmlns:a16="http://schemas.microsoft.com/office/drawing/2014/main" id="{9DE41F65-9823-757E-C6FE-B0C0E481692B}"/>
              </a:ext>
            </a:extLst>
          </p:cNvPr>
          <p:cNvPicPr>
            <a:picLocks noChangeAspect="1"/>
          </p:cNvPicPr>
          <p:nvPr/>
        </p:nvPicPr>
        <p:blipFill>
          <a:blip r:embed="rId3"/>
          <a:stretch>
            <a:fillRect/>
          </a:stretch>
        </p:blipFill>
        <p:spPr>
          <a:xfrm>
            <a:off x="853440" y="1674123"/>
            <a:ext cx="6796424" cy="41132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EXCEL DASHBOARD · 04</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Returns &amp; Service Quality</a:t>
            </a:r>
            <a:endParaRPr lang="en-US" sz="2600" dirty="0"/>
          </a:p>
        </p:txBody>
      </p:sp>
      <p:sp>
        <p:nvSpPr>
          <p:cNvPr id="4" name="Shape 2"/>
          <p:cNvSpPr/>
          <p:nvPr/>
        </p:nvSpPr>
        <p:spPr>
          <a:xfrm>
            <a:off x="502920" y="1463040"/>
            <a:ext cx="7452360" cy="4434840"/>
          </a:xfrm>
          <a:prstGeom prst="roundRect">
            <a:avLst>
              <a:gd name="adj" fmla="val 1237"/>
            </a:avLst>
          </a:prstGeom>
          <a:solidFill>
            <a:srgbClr val="E8EEF9"/>
          </a:solidFill>
          <a:ln/>
          <a:effectLst>
            <a:outerShdw blurRad="101600" dist="25400" dir="5400000" algn="bl" rotWithShape="0">
              <a:srgbClr val="1B2A4A">
                <a:alpha val="18000"/>
              </a:srgbClr>
            </a:outerShdw>
          </a:effectLst>
        </p:spPr>
        <p:txBody>
          <a:bodyPr/>
          <a:lstStyle/>
          <a:p>
            <a:endParaRPr lang="en-IN"/>
          </a:p>
        </p:txBody>
      </p:sp>
      <p:sp>
        <p:nvSpPr>
          <p:cNvPr id="6" name="Shape 3"/>
          <p:cNvSpPr/>
          <p:nvPr/>
        </p:nvSpPr>
        <p:spPr>
          <a:xfrm>
            <a:off x="8183880" y="1463040"/>
            <a:ext cx="3474720" cy="4434840"/>
          </a:xfrm>
          <a:prstGeom prst="roundRect">
            <a:avLst>
              <a:gd name="adj" fmla="val 2105"/>
            </a:avLst>
          </a:prstGeom>
          <a:solidFill>
            <a:srgbClr val="1B2A4A"/>
          </a:solidFill>
          <a:ln/>
        </p:spPr>
        <p:txBody>
          <a:bodyPr/>
          <a:lstStyle/>
          <a:p>
            <a:endParaRPr lang="en-IN"/>
          </a:p>
        </p:txBody>
      </p:sp>
      <p:sp>
        <p:nvSpPr>
          <p:cNvPr id="7" name="Text 4"/>
          <p:cNvSpPr/>
          <p:nvPr/>
        </p:nvSpPr>
        <p:spPr>
          <a:xfrm>
            <a:off x="8503920" y="1691640"/>
            <a:ext cx="2834640" cy="27432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KEY TAKEAWAYS</a:t>
            </a:r>
            <a:endParaRPr lang="en-US" sz="1100" dirty="0"/>
          </a:p>
        </p:txBody>
      </p:sp>
      <p:sp>
        <p:nvSpPr>
          <p:cNvPr id="8" name="Shape 5"/>
          <p:cNvSpPr/>
          <p:nvPr/>
        </p:nvSpPr>
        <p:spPr>
          <a:xfrm>
            <a:off x="8503920" y="2203704"/>
            <a:ext cx="91440" cy="91440"/>
          </a:xfrm>
          <a:prstGeom prst="ellipse">
            <a:avLst/>
          </a:prstGeom>
          <a:solidFill>
            <a:srgbClr val="F2994A"/>
          </a:solidFill>
          <a:ln/>
        </p:spPr>
        <p:txBody>
          <a:bodyPr/>
          <a:lstStyle/>
          <a:p>
            <a:endParaRPr lang="en-IN"/>
          </a:p>
        </p:txBody>
      </p:sp>
      <p:sp>
        <p:nvSpPr>
          <p:cNvPr id="9" name="Text 6"/>
          <p:cNvSpPr/>
          <p:nvPr/>
        </p:nvSpPr>
        <p:spPr>
          <a:xfrm>
            <a:off x="8732520" y="2029968"/>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574 returns overall — a manageable 7.59% return rate</a:t>
            </a:r>
            <a:endParaRPr lang="en-US" sz="1050" dirty="0"/>
          </a:p>
        </p:txBody>
      </p:sp>
      <p:sp>
        <p:nvSpPr>
          <p:cNvPr id="10" name="Shape 7"/>
          <p:cNvSpPr/>
          <p:nvPr/>
        </p:nvSpPr>
        <p:spPr>
          <a:xfrm>
            <a:off x="8503920" y="3054096"/>
            <a:ext cx="91440" cy="91440"/>
          </a:xfrm>
          <a:prstGeom prst="ellipse">
            <a:avLst/>
          </a:prstGeom>
          <a:solidFill>
            <a:srgbClr val="F2994A"/>
          </a:solidFill>
          <a:ln/>
        </p:spPr>
        <p:txBody>
          <a:bodyPr/>
          <a:lstStyle/>
          <a:p>
            <a:endParaRPr lang="en-IN"/>
          </a:p>
        </p:txBody>
      </p:sp>
      <p:sp>
        <p:nvSpPr>
          <p:cNvPr id="11" name="Text 8"/>
          <p:cNvSpPr/>
          <p:nvPr/>
        </p:nvSpPr>
        <p:spPr>
          <a:xfrm>
            <a:off x="8732520" y="2880360"/>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‘Changed mind’ is the single largest return reason, ahead of damage or mismatch issues</a:t>
            </a:r>
            <a:endParaRPr lang="en-US" sz="1050" dirty="0"/>
          </a:p>
        </p:txBody>
      </p:sp>
      <p:sp>
        <p:nvSpPr>
          <p:cNvPr id="12" name="Shape 9"/>
          <p:cNvSpPr/>
          <p:nvPr/>
        </p:nvSpPr>
        <p:spPr>
          <a:xfrm>
            <a:off x="8503920" y="3904488"/>
            <a:ext cx="91440" cy="91440"/>
          </a:xfrm>
          <a:prstGeom prst="ellipse">
            <a:avLst/>
          </a:prstGeom>
          <a:solidFill>
            <a:srgbClr val="F2994A"/>
          </a:solidFill>
          <a:ln/>
        </p:spPr>
        <p:txBody>
          <a:bodyPr/>
          <a:lstStyle/>
          <a:p>
            <a:endParaRPr lang="en-IN"/>
          </a:p>
        </p:txBody>
      </p:sp>
      <p:sp>
        <p:nvSpPr>
          <p:cNvPr id="13" name="Text 10"/>
          <p:cNvSpPr/>
          <p:nvPr/>
        </p:nvSpPr>
        <p:spPr>
          <a:xfrm>
            <a:off x="8732520" y="3730752"/>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81% of returns are refunded (‘Processed’); very few are rejected</a:t>
            </a:r>
            <a:endParaRPr lang="en-US" sz="1050" dirty="0"/>
          </a:p>
        </p:txBody>
      </p:sp>
      <p:sp>
        <p:nvSpPr>
          <p:cNvPr id="14" name="Shape 11"/>
          <p:cNvSpPr/>
          <p:nvPr/>
        </p:nvSpPr>
        <p:spPr>
          <a:xfrm>
            <a:off x="8503920" y="4754880"/>
            <a:ext cx="91440" cy="91440"/>
          </a:xfrm>
          <a:prstGeom prst="ellipse">
            <a:avLst/>
          </a:prstGeom>
          <a:solidFill>
            <a:srgbClr val="F2994A"/>
          </a:solidFill>
          <a:ln/>
        </p:spPr>
        <p:txBody>
          <a:bodyPr/>
          <a:lstStyle/>
          <a:p>
            <a:endParaRPr lang="en-IN"/>
          </a:p>
        </p:txBody>
      </p:sp>
      <p:sp>
        <p:nvSpPr>
          <p:cNvPr id="15" name="Text 12"/>
          <p:cNvSpPr/>
          <p:nvPr/>
        </p:nvSpPr>
        <p:spPr>
          <a:xfrm>
            <a:off x="8732520" y="4581144"/>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Resolution takes up to 7 days, with most cases closing within the first few days</a:t>
            </a:r>
            <a:endParaRPr lang="en-US" sz="1050" dirty="0"/>
          </a:p>
        </p:txBody>
      </p:sp>
      <p:sp>
        <p:nvSpPr>
          <p:cNvPr id="16" name="Shape 13"/>
          <p:cNvSpPr/>
          <p:nvPr/>
        </p:nvSpPr>
        <p:spPr>
          <a:xfrm>
            <a:off x="8503920" y="5605272"/>
            <a:ext cx="91440" cy="91440"/>
          </a:xfrm>
          <a:prstGeom prst="ellipse">
            <a:avLst/>
          </a:prstGeom>
          <a:solidFill>
            <a:srgbClr val="F2994A"/>
          </a:solidFill>
          <a:ln/>
        </p:spPr>
        <p:txBody>
          <a:bodyPr/>
          <a:lstStyle/>
          <a:p>
            <a:endParaRPr lang="en-IN"/>
          </a:p>
        </p:txBody>
      </p:sp>
      <p:sp>
        <p:nvSpPr>
          <p:cNvPr id="17" name="Text 14"/>
          <p:cNvSpPr/>
          <p:nvPr/>
        </p:nvSpPr>
        <p:spPr>
          <a:xfrm>
            <a:off x="8732520" y="5431536"/>
            <a:ext cx="2743200" cy="758952"/>
          </a:xfrm>
          <a:prstGeom prst="rect">
            <a:avLst/>
          </a:prstGeom>
          <a:noFill/>
          <a:ln/>
        </p:spPr>
        <p:txBody>
          <a:bodyPr wrap="square" rtlCol="0" anchor="t"/>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Feedback skews Neutral/Dissatisfied — the returns experience is an improvement area</a:t>
            </a:r>
            <a:endParaRPr lang="en-US" sz="1050" dirty="0"/>
          </a:p>
        </p:txBody>
      </p:sp>
      <p:sp>
        <p:nvSpPr>
          <p:cNvPr id="18" name="Text 1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19"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9</a:t>
            </a:r>
            <a:endParaRPr lang="en-US" sz="900" dirty="0"/>
          </a:p>
        </p:txBody>
      </p:sp>
      <p:pic>
        <p:nvPicPr>
          <p:cNvPr id="21" name="Picture 20">
            <a:extLst>
              <a:ext uri="{FF2B5EF4-FFF2-40B4-BE49-F238E27FC236}">
                <a16:creationId xmlns:a16="http://schemas.microsoft.com/office/drawing/2014/main" id="{5FD8691E-D223-3BCF-A9F9-9DC037A6D7D7}"/>
              </a:ext>
            </a:extLst>
          </p:cNvPr>
          <p:cNvPicPr>
            <a:picLocks noChangeAspect="1"/>
          </p:cNvPicPr>
          <p:nvPr/>
        </p:nvPicPr>
        <p:blipFill>
          <a:blip r:embed="rId3"/>
          <a:stretch>
            <a:fillRect/>
          </a:stretch>
        </p:blipFill>
        <p:spPr>
          <a:xfrm>
            <a:off x="678342" y="1645920"/>
            <a:ext cx="7055796" cy="4069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DD432C-7013-D480-7653-8EFC876289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52F305-4D64-C795-B90A-7B15E6086A42}"/>
              </a:ext>
            </a:extLst>
          </p:cNvPr>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TABLEAU DASHBOARD</a:t>
            </a:r>
            <a:endParaRPr lang="en-US" sz="1250" dirty="0"/>
          </a:p>
        </p:txBody>
      </p:sp>
      <p:sp>
        <p:nvSpPr>
          <p:cNvPr id="3" name="Text 1">
            <a:extLst>
              <a:ext uri="{FF2B5EF4-FFF2-40B4-BE49-F238E27FC236}">
                <a16:creationId xmlns:a16="http://schemas.microsoft.com/office/drawing/2014/main" id="{2B839B5C-0862-833B-18CD-FB23693CC3D3}"/>
              </a:ext>
            </a:extLst>
          </p:cNvPr>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Interactive Marketing &amp; Campaign View</a:t>
            </a:r>
            <a:endParaRPr lang="en-US" sz="3000" dirty="0"/>
          </a:p>
        </p:txBody>
      </p:sp>
      <p:sp>
        <p:nvSpPr>
          <p:cNvPr id="4" name="Text 2">
            <a:extLst>
              <a:ext uri="{FF2B5EF4-FFF2-40B4-BE49-F238E27FC236}">
                <a16:creationId xmlns:a16="http://schemas.microsoft.com/office/drawing/2014/main" id="{4338878F-669B-C5BE-7D6D-1C873E056258}"/>
              </a:ext>
            </a:extLst>
          </p:cNvPr>
          <p:cNvSpPr/>
          <p:nvPr/>
        </p:nvSpPr>
        <p:spPr>
          <a:xfrm>
            <a:off x="548640" y="1417320"/>
            <a:ext cx="10789920" cy="685800"/>
          </a:xfrm>
          <a:prstGeom prst="rect">
            <a:avLst/>
          </a:prstGeom>
          <a:noFill/>
          <a:ln/>
        </p:spPr>
        <p:txBody>
          <a:bodyPr wrap="square" rtlCol="0" anchor="ctr"/>
          <a:lstStyle/>
          <a:p>
            <a:pPr marL="0" indent="0">
              <a:lnSpc>
                <a:spcPct val="125000"/>
              </a:lnSpc>
              <a:buNone/>
            </a:pPr>
            <a:r>
              <a:rPr lang="en-US" sz="1250" dirty="0">
                <a:solidFill>
                  <a:srgbClr val="4A5568"/>
                </a:solidFill>
                <a:latin typeface="Calibri" pitchFamily="34" charset="0"/>
                <a:ea typeface="Calibri" pitchFamily="34" charset="-122"/>
                <a:cs typeface="Calibri" pitchFamily="34" charset="-120"/>
              </a:rPr>
              <a:t>Built in Tableau from the same relational model, this workbook adds interactivity — filters, drill-downs and cross-highlighting — across two linked dashboards focused on marketing efficiency and campaign ROI.</a:t>
            </a:r>
            <a:endParaRPr lang="en-US" sz="1250" dirty="0"/>
          </a:p>
        </p:txBody>
      </p:sp>
      <p:sp>
        <p:nvSpPr>
          <p:cNvPr id="5" name="Shape 3">
            <a:extLst>
              <a:ext uri="{FF2B5EF4-FFF2-40B4-BE49-F238E27FC236}">
                <a16:creationId xmlns:a16="http://schemas.microsoft.com/office/drawing/2014/main" id="{8DC40F1B-2CAC-68A4-31A9-39E810625EA5}"/>
              </a:ext>
            </a:extLst>
          </p:cNvPr>
          <p:cNvSpPr/>
          <p:nvPr/>
        </p:nvSpPr>
        <p:spPr>
          <a:xfrm>
            <a:off x="548640" y="2331720"/>
            <a:ext cx="5349240" cy="2743200"/>
          </a:xfrm>
          <a:prstGeom prst="roundRect">
            <a:avLst>
              <a:gd name="adj" fmla="val 2667"/>
            </a:avLst>
          </a:prstGeom>
          <a:solidFill>
            <a:srgbClr val="E8EEF9"/>
          </a:solidFill>
          <a:ln/>
        </p:spPr>
        <p:txBody>
          <a:bodyPr/>
          <a:lstStyle/>
          <a:p>
            <a:endParaRPr lang="en-IN"/>
          </a:p>
        </p:txBody>
      </p:sp>
      <p:sp>
        <p:nvSpPr>
          <p:cNvPr id="6" name="Shape 4">
            <a:extLst>
              <a:ext uri="{FF2B5EF4-FFF2-40B4-BE49-F238E27FC236}">
                <a16:creationId xmlns:a16="http://schemas.microsoft.com/office/drawing/2014/main" id="{64F73A36-4691-A8EF-80D5-49B387828E6D}"/>
              </a:ext>
            </a:extLst>
          </p:cNvPr>
          <p:cNvSpPr/>
          <p:nvPr/>
        </p:nvSpPr>
        <p:spPr>
          <a:xfrm>
            <a:off x="822960" y="2606040"/>
            <a:ext cx="548640" cy="548640"/>
          </a:xfrm>
          <a:prstGeom prst="ellipse">
            <a:avLst/>
          </a:prstGeom>
          <a:solidFill>
            <a:srgbClr val="F2994A"/>
          </a:solidFill>
          <a:ln/>
        </p:spPr>
        <p:txBody>
          <a:bodyPr/>
          <a:lstStyle/>
          <a:p>
            <a:endParaRPr lang="en-IN"/>
          </a:p>
        </p:txBody>
      </p:sp>
      <p:pic>
        <p:nvPicPr>
          <p:cNvPr id="7" name="Image 0" descr="icons/target.png">
            <a:extLst>
              <a:ext uri="{FF2B5EF4-FFF2-40B4-BE49-F238E27FC236}">
                <a16:creationId xmlns:a16="http://schemas.microsoft.com/office/drawing/2014/main" id="{9A1A946B-E661-67E6-58B2-99A6567108AE}"/>
              </a:ext>
            </a:extLst>
          </p:cNvPr>
          <p:cNvPicPr>
            <a:picLocks noChangeAspect="1"/>
          </p:cNvPicPr>
          <p:nvPr/>
        </p:nvPicPr>
        <p:blipFill>
          <a:blip r:embed="rId3"/>
          <a:stretch>
            <a:fillRect/>
          </a:stretch>
        </p:blipFill>
        <p:spPr>
          <a:xfrm>
            <a:off x="946404" y="2729484"/>
            <a:ext cx="301752" cy="301752"/>
          </a:xfrm>
          <a:prstGeom prst="rect">
            <a:avLst/>
          </a:prstGeom>
        </p:spPr>
      </p:pic>
      <p:sp>
        <p:nvSpPr>
          <p:cNvPr id="8" name="Text 5">
            <a:extLst>
              <a:ext uri="{FF2B5EF4-FFF2-40B4-BE49-F238E27FC236}">
                <a16:creationId xmlns:a16="http://schemas.microsoft.com/office/drawing/2014/main" id="{F90FF1A9-4561-7BF6-B46E-F146F7E010EA}"/>
              </a:ext>
            </a:extLst>
          </p:cNvPr>
          <p:cNvSpPr/>
          <p:nvPr/>
        </p:nvSpPr>
        <p:spPr>
          <a:xfrm>
            <a:off x="1554480" y="2651760"/>
            <a:ext cx="4160520" cy="50292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Dashboard 1 — Sales and Operations Dashboard</a:t>
            </a:r>
            <a:endParaRPr lang="en-US" sz="1400" dirty="0"/>
          </a:p>
        </p:txBody>
      </p:sp>
      <p:sp>
        <p:nvSpPr>
          <p:cNvPr id="9" name="Shape 6">
            <a:extLst>
              <a:ext uri="{FF2B5EF4-FFF2-40B4-BE49-F238E27FC236}">
                <a16:creationId xmlns:a16="http://schemas.microsoft.com/office/drawing/2014/main" id="{04D97C1A-5203-0DCE-A6A9-3FB609D7CB3A}"/>
              </a:ext>
            </a:extLst>
          </p:cNvPr>
          <p:cNvSpPr/>
          <p:nvPr/>
        </p:nvSpPr>
        <p:spPr>
          <a:xfrm>
            <a:off x="868680" y="3493008"/>
            <a:ext cx="82296" cy="82296"/>
          </a:xfrm>
          <a:prstGeom prst="ellipse">
            <a:avLst/>
          </a:prstGeom>
          <a:solidFill>
            <a:srgbClr val="F2994A"/>
          </a:solidFill>
          <a:ln/>
        </p:spPr>
        <p:txBody>
          <a:bodyPr/>
          <a:lstStyle/>
          <a:p>
            <a:endParaRPr lang="en-IN"/>
          </a:p>
        </p:txBody>
      </p:sp>
      <p:sp>
        <p:nvSpPr>
          <p:cNvPr id="10" name="Text 7">
            <a:extLst>
              <a:ext uri="{FF2B5EF4-FFF2-40B4-BE49-F238E27FC236}">
                <a16:creationId xmlns:a16="http://schemas.microsoft.com/office/drawing/2014/main" id="{CB1B5B90-4CF9-2678-4996-AFD8440EDA41}"/>
              </a:ext>
            </a:extLst>
          </p:cNvPr>
          <p:cNvSpPr/>
          <p:nvPr/>
        </p:nvSpPr>
        <p:spPr>
          <a:xfrm>
            <a:off x="1051560" y="3337560"/>
            <a:ext cx="4526280" cy="45720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Sales and Order Performance</a:t>
            </a:r>
            <a:endParaRPr lang="en-US" sz="1150" dirty="0"/>
          </a:p>
        </p:txBody>
      </p:sp>
      <p:sp>
        <p:nvSpPr>
          <p:cNvPr id="11" name="Shape 8">
            <a:extLst>
              <a:ext uri="{FF2B5EF4-FFF2-40B4-BE49-F238E27FC236}">
                <a16:creationId xmlns:a16="http://schemas.microsoft.com/office/drawing/2014/main" id="{D8840EC7-E45A-1458-81BE-9CCE367110EE}"/>
              </a:ext>
            </a:extLst>
          </p:cNvPr>
          <p:cNvSpPr/>
          <p:nvPr/>
        </p:nvSpPr>
        <p:spPr>
          <a:xfrm>
            <a:off x="868680" y="3977640"/>
            <a:ext cx="82296" cy="82296"/>
          </a:xfrm>
          <a:prstGeom prst="ellipse">
            <a:avLst/>
          </a:prstGeom>
          <a:solidFill>
            <a:srgbClr val="F2994A"/>
          </a:solidFill>
          <a:ln/>
        </p:spPr>
        <p:txBody>
          <a:bodyPr/>
          <a:lstStyle/>
          <a:p>
            <a:endParaRPr lang="en-IN"/>
          </a:p>
        </p:txBody>
      </p:sp>
      <p:sp>
        <p:nvSpPr>
          <p:cNvPr id="12" name="Text 9">
            <a:extLst>
              <a:ext uri="{FF2B5EF4-FFF2-40B4-BE49-F238E27FC236}">
                <a16:creationId xmlns:a16="http://schemas.microsoft.com/office/drawing/2014/main" id="{A14FEA6F-512A-1C79-2F33-50C159865240}"/>
              </a:ext>
            </a:extLst>
          </p:cNvPr>
          <p:cNvSpPr/>
          <p:nvPr/>
        </p:nvSpPr>
        <p:spPr>
          <a:xfrm>
            <a:off x="1051560" y="3822192"/>
            <a:ext cx="4526280" cy="45720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Product and Category Performance</a:t>
            </a:r>
            <a:endParaRPr lang="en-US" sz="1150" dirty="0"/>
          </a:p>
        </p:txBody>
      </p:sp>
      <p:sp>
        <p:nvSpPr>
          <p:cNvPr id="13" name="Shape 10">
            <a:extLst>
              <a:ext uri="{FF2B5EF4-FFF2-40B4-BE49-F238E27FC236}">
                <a16:creationId xmlns:a16="http://schemas.microsoft.com/office/drawing/2014/main" id="{424200B7-9DC4-0754-052A-F248E8075FC1}"/>
              </a:ext>
            </a:extLst>
          </p:cNvPr>
          <p:cNvSpPr/>
          <p:nvPr/>
        </p:nvSpPr>
        <p:spPr>
          <a:xfrm>
            <a:off x="868680" y="4462272"/>
            <a:ext cx="82296" cy="82296"/>
          </a:xfrm>
          <a:prstGeom prst="ellipse">
            <a:avLst/>
          </a:prstGeom>
          <a:solidFill>
            <a:srgbClr val="F2994A"/>
          </a:solidFill>
          <a:ln/>
        </p:spPr>
        <p:txBody>
          <a:bodyPr/>
          <a:lstStyle/>
          <a:p>
            <a:endParaRPr lang="en-IN"/>
          </a:p>
        </p:txBody>
      </p:sp>
      <p:sp>
        <p:nvSpPr>
          <p:cNvPr id="14" name="Text 11">
            <a:extLst>
              <a:ext uri="{FF2B5EF4-FFF2-40B4-BE49-F238E27FC236}">
                <a16:creationId xmlns:a16="http://schemas.microsoft.com/office/drawing/2014/main" id="{D2254011-FDFA-AA6F-9381-529217E9A9E2}"/>
              </a:ext>
            </a:extLst>
          </p:cNvPr>
          <p:cNvSpPr/>
          <p:nvPr/>
        </p:nvSpPr>
        <p:spPr>
          <a:xfrm>
            <a:off x="1051560" y="4306824"/>
            <a:ext cx="4526280" cy="45720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Order Status and customer analysis</a:t>
            </a:r>
            <a:endParaRPr lang="en-US" sz="1150" dirty="0"/>
          </a:p>
        </p:txBody>
      </p:sp>
      <p:sp>
        <p:nvSpPr>
          <p:cNvPr id="15" name="Shape 12">
            <a:extLst>
              <a:ext uri="{FF2B5EF4-FFF2-40B4-BE49-F238E27FC236}">
                <a16:creationId xmlns:a16="http://schemas.microsoft.com/office/drawing/2014/main" id="{CD517F09-AF4D-A52C-BED0-698657DCEAE2}"/>
              </a:ext>
            </a:extLst>
          </p:cNvPr>
          <p:cNvSpPr/>
          <p:nvPr/>
        </p:nvSpPr>
        <p:spPr>
          <a:xfrm>
            <a:off x="6263640" y="2331720"/>
            <a:ext cx="5349240" cy="2743200"/>
          </a:xfrm>
          <a:prstGeom prst="roundRect">
            <a:avLst>
              <a:gd name="adj" fmla="val 2667"/>
            </a:avLst>
          </a:prstGeom>
          <a:solidFill>
            <a:srgbClr val="E8EEF9"/>
          </a:solidFill>
          <a:ln/>
        </p:spPr>
        <p:txBody>
          <a:bodyPr/>
          <a:lstStyle/>
          <a:p>
            <a:endParaRPr lang="en-IN"/>
          </a:p>
        </p:txBody>
      </p:sp>
      <p:sp>
        <p:nvSpPr>
          <p:cNvPr id="16" name="Shape 13">
            <a:extLst>
              <a:ext uri="{FF2B5EF4-FFF2-40B4-BE49-F238E27FC236}">
                <a16:creationId xmlns:a16="http://schemas.microsoft.com/office/drawing/2014/main" id="{28FC8A20-B4B2-5FD0-E35B-6CF814B9ECDC}"/>
              </a:ext>
            </a:extLst>
          </p:cNvPr>
          <p:cNvSpPr/>
          <p:nvPr/>
        </p:nvSpPr>
        <p:spPr>
          <a:xfrm>
            <a:off x="6537960" y="2606040"/>
            <a:ext cx="548640" cy="548640"/>
          </a:xfrm>
          <a:prstGeom prst="ellipse">
            <a:avLst/>
          </a:prstGeom>
          <a:solidFill>
            <a:srgbClr val="F2994A"/>
          </a:solidFill>
          <a:ln/>
        </p:spPr>
        <p:txBody>
          <a:bodyPr/>
          <a:lstStyle/>
          <a:p>
            <a:endParaRPr lang="en-IN"/>
          </a:p>
        </p:txBody>
      </p:sp>
      <p:pic>
        <p:nvPicPr>
          <p:cNvPr id="17" name="Image 1" descr="icons/users.png">
            <a:extLst>
              <a:ext uri="{FF2B5EF4-FFF2-40B4-BE49-F238E27FC236}">
                <a16:creationId xmlns:a16="http://schemas.microsoft.com/office/drawing/2014/main" id="{B917442D-9878-6E38-AE49-457BCCADDC3C}"/>
              </a:ext>
            </a:extLst>
          </p:cNvPr>
          <p:cNvPicPr>
            <a:picLocks noChangeAspect="1"/>
          </p:cNvPicPr>
          <p:nvPr/>
        </p:nvPicPr>
        <p:blipFill>
          <a:blip r:embed="rId4"/>
          <a:stretch>
            <a:fillRect/>
          </a:stretch>
        </p:blipFill>
        <p:spPr>
          <a:xfrm>
            <a:off x="6661404" y="2729484"/>
            <a:ext cx="301752" cy="301752"/>
          </a:xfrm>
          <a:prstGeom prst="rect">
            <a:avLst/>
          </a:prstGeom>
        </p:spPr>
      </p:pic>
      <p:sp>
        <p:nvSpPr>
          <p:cNvPr id="18" name="Text 14">
            <a:extLst>
              <a:ext uri="{FF2B5EF4-FFF2-40B4-BE49-F238E27FC236}">
                <a16:creationId xmlns:a16="http://schemas.microsoft.com/office/drawing/2014/main" id="{70EC0F32-5BD6-5353-66B1-625FA483138E}"/>
              </a:ext>
            </a:extLst>
          </p:cNvPr>
          <p:cNvSpPr/>
          <p:nvPr/>
        </p:nvSpPr>
        <p:spPr>
          <a:xfrm>
            <a:off x="7269480" y="2651760"/>
            <a:ext cx="4160520" cy="50292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Dashboard 2 — Customer and Marketing dashboard</a:t>
            </a:r>
            <a:endParaRPr lang="en-US" sz="1400" dirty="0"/>
          </a:p>
        </p:txBody>
      </p:sp>
      <p:sp>
        <p:nvSpPr>
          <p:cNvPr id="19" name="Shape 15">
            <a:extLst>
              <a:ext uri="{FF2B5EF4-FFF2-40B4-BE49-F238E27FC236}">
                <a16:creationId xmlns:a16="http://schemas.microsoft.com/office/drawing/2014/main" id="{7C5E83FF-9EF6-FFAD-D367-255B7FC9A108}"/>
              </a:ext>
            </a:extLst>
          </p:cNvPr>
          <p:cNvSpPr/>
          <p:nvPr/>
        </p:nvSpPr>
        <p:spPr>
          <a:xfrm>
            <a:off x="6583680" y="3493008"/>
            <a:ext cx="82296" cy="82296"/>
          </a:xfrm>
          <a:prstGeom prst="ellipse">
            <a:avLst/>
          </a:prstGeom>
          <a:solidFill>
            <a:srgbClr val="F2994A"/>
          </a:solidFill>
          <a:ln/>
        </p:spPr>
        <p:txBody>
          <a:bodyPr/>
          <a:lstStyle/>
          <a:p>
            <a:endParaRPr lang="en-IN"/>
          </a:p>
        </p:txBody>
      </p:sp>
      <p:sp>
        <p:nvSpPr>
          <p:cNvPr id="20" name="Text 16">
            <a:extLst>
              <a:ext uri="{FF2B5EF4-FFF2-40B4-BE49-F238E27FC236}">
                <a16:creationId xmlns:a16="http://schemas.microsoft.com/office/drawing/2014/main" id="{2999A184-461C-E94B-EB9B-3DC3644689AE}"/>
              </a:ext>
            </a:extLst>
          </p:cNvPr>
          <p:cNvSpPr/>
          <p:nvPr/>
        </p:nvSpPr>
        <p:spPr>
          <a:xfrm>
            <a:off x="6766560" y="3337560"/>
            <a:ext cx="4526280" cy="45720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Customer acquisition and segments</a:t>
            </a:r>
            <a:endParaRPr lang="en-US" sz="1150" dirty="0"/>
          </a:p>
        </p:txBody>
      </p:sp>
      <p:sp>
        <p:nvSpPr>
          <p:cNvPr id="21" name="Shape 17">
            <a:extLst>
              <a:ext uri="{FF2B5EF4-FFF2-40B4-BE49-F238E27FC236}">
                <a16:creationId xmlns:a16="http://schemas.microsoft.com/office/drawing/2014/main" id="{A11BB59C-BAE7-5EAF-A54E-232445F5D854}"/>
              </a:ext>
            </a:extLst>
          </p:cNvPr>
          <p:cNvSpPr/>
          <p:nvPr/>
        </p:nvSpPr>
        <p:spPr>
          <a:xfrm>
            <a:off x="6583680" y="3977640"/>
            <a:ext cx="82296" cy="82296"/>
          </a:xfrm>
          <a:prstGeom prst="ellipse">
            <a:avLst/>
          </a:prstGeom>
          <a:solidFill>
            <a:srgbClr val="F2994A"/>
          </a:solidFill>
          <a:ln/>
        </p:spPr>
        <p:txBody>
          <a:bodyPr/>
          <a:lstStyle/>
          <a:p>
            <a:endParaRPr lang="en-IN"/>
          </a:p>
        </p:txBody>
      </p:sp>
      <p:sp>
        <p:nvSpPr>
          <p:cNvPr id="22" name="Text 18">
            <a:extLst>
              <a:ext uri="{FF2B5EF4-FFF2-40B4-BE49-F238E27FC236}">
                <a16:creationId xmlns:a16="http://schemas.microsoft.com/office/drawing/2014/main" id="{220C49FC-A1A9-A4A0-434B-DDC84EBF3C4B}"/>
              </a:ext>
            </a:extLst>
          </p:cNvPr>
          <p:cNvSpPr/>
          <p:nvPr/>
        </p:nvSpPr>
        <p:spPr>
          <a:xfrm>
            <a:off x="6766560" y="3822192"/>
            <a:ext cx="4526280" cy="45720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Acquisition channel mix over time</a:t>
            </a:r>
            <a:endParaRPr lang="en-US" sz="1150" dirty="0"/>
          </a:p>
        </p:txBody>
      </p:sp>
      <p:sp>
        <p:nvSpPr>
          <p:cNvPr id="23" name="Shape 19">
            <a:extLst>
              <a:ext uri="{FF2B5EF4-FFF2-40B4-BE49-F238E27FC236}">
                <a16:creationId xmlns:a16="http://schemas.microsoft.com/office/drawing/2014/main" id="{AC952169-9FCA-B979-0DA3-D069693C20BF}"/>
              </a:ext>
            </a:extLst>
          </p:cNvPr>
          <p:cNvSpPr/>
          <p:nvPr/>
        </p:nvSpPr>
        <p:spPr>
          <a:xfrm>
            <a:off x="6583680" y="4462272"/>
            <a:ext cx="82296" cy="82296"/>
          </a:xfrm>
          <a:prstGeom prst="ellipse">
            <a:avLst/>
          </a:prstGeom>
          <a:solidFill>
            <a:srgbClr val="F2994A"/>
          </a:solidFill>
          <a:ln/>
        </p:spPr>
        <p:txBody>
          <a:bodyPr/>
          <a:lstStyle/>
          <a:p>
            <a:endParaRPr lang="en-IN"/>
          </a:p>
        </p:txBody>
      </p:sp>
      <p:sp>
        <p:nvSpPr>
          <p:cNvPr id="24" name="Text 20">
            <a:extLst>
              <a:ext uri="{FF2B5EF4-FFF2-40B4-BE49-F238E27FC236}">
                <a16:creationId xmlns:a16="http://schemas.microsoft.com/office/drawing/2014/main" id="{3C8AB6BF-DC50-C31F-3FF8-0BCCE4899729}"/>
              </a:ext>
            </a:extLst>
          </p:cNvPr>
          <p:cNvSpPr/>
          <p:nvPr/>
        </p:nvSpPr>
        <p:spPr>
          <a:xfrm>
            <a:off x="6766560" y="4306824"/>
            <a:ext cx="4526280" cy="45720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Marketing campaign performance</a:t>
            </a:r>
            <a:endParaRPr lang="en-US" sz="1150" dirty="0"/>
          </a:p>
        </p:txBody>
      </p:sp>
      <p:sp>
        <p:nvSpPr>
          <p:cNvPr id="25" name="Text 21">
            <a:extLst>
              <a:ext uri="{FF2B5EF4-FFF2-40B4-BE49-F238E27FC236}">
                <a16:creationId xmlns:a16="http://schemas.microsoft.com/office/drawing/2014/main" id="{670B8BB6-7498-A90E-227F-80831B1E9345}"/>
              </a:ext>
            </a:extLst>
          </p:cNvPr>
          <p:cNvSpPr/>
          <p:nvPr/>
        </p:nvSpPr>
        <p:spPr>
          <a:xfrm>
            <a:off x="548640" y="5294376"/>
            <a:ext cx="11064240" cy="365760"/>
          </a:xfrm>
          <a:prstGeom prst="rect">
            <a:avLst/>
          </a:prstGeom>
          <a:noFill/>
          <a:ln/>
        </p:spPr>
        <p:txBody>
          <a:bodyPr wrap="square" rtlCol="0" anchor="ctr"/>
          <a:lstStyle/>
          <a:p>
            <a:r>
              <a:rPr lang="en-US" sz="1050" i="1" dirty="0">
                <a:solidFill>
                  <a:srgbClr val="8B95A5"/>
                </a:solidFill>
                <a:latin typeface="Calibri" pitchFamily="34" charset="0"/>
                <a:ea typeface="Calibri" pitchFamily="34" charset="-122"/>
                <a:cs typeface="Calibri" pitchFamily="34" charset="-120"/>
              </a:rPr>
              <a:t>Fields tracked </a:t>
            </a:r>
            <a:r>
              <a:rPr lang="en-IN" sz="1050" i="1" dirty="0">
                <a:solidFill>
                  <a:srgbClr val="8B95A5"/>
                </a:solidFill>
                <a:latin typeface="Calibri" pitchFamily="34" charset="0"/>
                <a:ea typeface="Calibri" pitchFamily="34" charset="-122"/>
                <a:cs typeface="Calibri" pitchFamily="34" charset="-120"/>
              </a:rPr>
              <a:t>include sales, orders, customers, products, campaign performance and customer acquisition metrics across 108 campaign records</a:t>
            </a:r>
            <a:r>
              <a:rPr lang="en-IN" sz="1050" dirty="0"/>
              <a:t>.</a:t>
            </a:r>
            <a:endParaRPr lang="en-US" sz="1050" dirty="0"/>
          </a:p>
        </p:txBody>
      </p:sp>
      <p:sp>
        <p:nvSpPr>
          <p:cNvPr id="26" name="Text 22">
            <a:extLst>
              <a:ext uri="{FF2B5EF4-FFF2-40B4-BE49-F238E27FC236}">
                <a16:creationId xmlns:a16="http://schemas.microsoft.com/office/drawing/2014/main" id="{DA818716-06C9-0469-DDA9-8AE0878151FA}"/>
              </a:ext>
            </a:extLst>
          </p:cNvPr>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Text 23">
            <a:extLst>
              <a:ext uri="{FF2B5EF4-FFF2-40B4-BE49-F238E27FC236}">
                <a16:creationId xmlns:a16="http://schemas.microsoft.com/office/drawing/2014/main" id="{B86C05D5-D867-26D9-F452-DD88F7015B2B}"/>
              </a:ext>
            </a:extLst>
          </p:cNvPr>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10</a:t>
            </a:r>
            <a:endParaRPr lang="en-US" sz="900" dirty="0"/>
          </a:p>
        </p:txBody>
      </p:sp>
    </p:spTree>
    <p:extLst>
      <p:ext uri="{BB962C8B-B14F-4D97-AF65-F5344CB8AC3E}">
        <p14:creationId xmlns:p14="http://schemas.microsoft.com/office/powerpoint/2010/main" val="3118314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endParaRPr lang="en-US" sz="1250" dirty="0"/>
          </a:p>
        </p:txBody>
      </p:sp>
      <p:sp>
        <p:nvSpPr>
          <p:cNvPr id="3" name="Text 1"/>
          <p:cNvSpPr/>
          <p:nvPr/>
        </p:nvSpPr>
        <p:spPr>
          <a:xfrm>
            <a:off x="548640" y="352044"/>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rPr>
              <a:t>Tableau Dashboards</a:t>
            </a:r>
            <a:endParaRPr lang="en-US" sz="3000" dirty="0"/>
          </a:p>
        </p:txBody>
      </p:sp>
      <p:sp>
        <p:nvSpPr>
          <p:cNvPr id="5" name="Shape 3"/>
          <p:cNvSpPr/>
          <p:nvPr/>
        </p:nvSpPr>
        <p:spPr>
          <a:xfrm>
            <a:off x="548639" y="1298448"/>
            <a:ext cx="10897573" cy="5076412"/>
          </a:xfrm>
          <a:prstGeom prst="roundRect">
            <a:avLst>
              <a:gd name="adj" fmla="val 2667"/>
            </a:avLst>
          </a:prstGeom>
          <a:solidFill>
            <a:srgbClr val="E8EEF9"/>
          </a:solidFill>
          <a:ln/>
        </p:spPr>
        <p:txBody>
          <a:bodyPr/>
          <a:lstStyle/>
          <a:p>
            <a:endParaRPr lang="en-IN" dirty="0"/>
          </a:p>
        </p:txBody>
      </p:sp>
      <p:sp>
        <p:nvSpPr>
          <p:cNvPr id="6" name="Shape 4"/>
          <p:cNvSpPr/>
          <p:nvPr/>
        </p:nvSpPr>
        <p:spPr>
          <a:xfrm>
            <a:off x="839172" y="1424178"/>
            <a:ext cx="548640" cy="548640"/>
          </a:xfrm>
          <a:prstGeom prst="ellipse">
            <a:avLst/>
          </a:prstGeom>
          <a:solidFill>
            <a:srgbClr val="F2994A"/>
          </a:solidFill>
          <a:ln/>
        </p:spPr>
        <p:txBody>
          <a:bodyPr/>
          <a:lstStyle/>
          <a:p>
            <a:endParaRPr lang="en-IN"/>
          </a:p>
        </p:txBody>
      </p:sp>
      <p:pic>
        <p:nvPicPr>
          <p:cNvPr id="7" name="Image 0" descr="icons/target.png"/>
          <p:cNvPicPr>
            <a:picLocks noChangeAspect="1"/>
          </p:cNvPicPr>
          <p:nvPr/>
        </p:nvPicPr>
        <p:blipFill>
          <a:blip r:embed="rId3"/>
          <a:stretch>
            <a:fillRect/>
          </a:stretch>
        </p:blipFill>
        <p:spPr>
          <a:xfrm>
            <a:off x="962616" y="1547622"/>
            <a:ext cx="301752" cy="301752"/>
          </a:xfrm>
          <a:prstGeom prst="rect">
            <a:avLst/>
          </a:prstGeom>
        </p:spPr>
      </p:pic>
      <p:sp>
        <p:nvSpPr>
          <p:cNvPr id="8" name="Text 5"/>
          <p:cNvSpPr/>
          <p:nvPr/>
        </p:nvSpPr>
        <p:spPr>
          <a:xfrm>
            <a:off x="1554480" y="1357884"/>
            <a:ext cx="4160520" cy="50292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Dashboard 1 — Sales and Operation Dashboard</a:t>
            </a:r>
            <a:endParaRPr lang="en-US" sz="1400" dirty="0"/>
          </a:p>
        </p:txBody>
      </p:sp>
      <p:sp>
        <p:nvSpPr>
          <p:cNvPr id="10" name="Text 7"/>
          <p:cNvSpPr/>
          <p:nvPr/>
        </p:nvSpPr>
        <p:spPr>
          <a:xfrm>
            <a:off x="1051560" y="3337560"/>
            <a:ext cx="4526280" cy="457200"/>
          </a:xfrm>
          <a:prstGeom prst="rect">
            <a:avLst/>
          </a:prstGeom>
          <a:noFill/>
          <a:ln/>
        </p:spPr>
        <p:txBody>
          <a:bodyPr wrap="square" rtlCol="0" anchor="ctr"/>
          <a:lstStyle/>
          <a:p>
            <a:pPr marL="0" indent="0">
              <a:buNone/>
            </a:pPr>
            <a:endParaRPr lang="en-US" sz="1150" dirty="0"/>
          </a:p>
        </p:txBody>
      </p:sp>
      <p:sp>
        <p:nvSpPr>
          <p:cNvPr id="12" name="Text 9"/>
          <p:cNvSpPr/>
          <p:nvPr/>
        </p:nvSpPr>
        <p:spPr>
          <a:xfrm>
            <a:off x="1051560" y="3822192"/>
            <a:ext cx="4526280" cy="457200"/>
          </a:xfrm>
          <a:prstGeom prst="rect">
            <a:avLst/>
          </a:prstGeom>
          <a:noFill/>
          <a:ln/>
        </p:spPr>
        <p:txBody>
          <a:bodyPr wrap="square" rtlCol="0" anchor="ctr"/>
          <a:lstStyle/>
          <a:p>
            <a:pPr marL="0" indent="0">
              <a:buNone/>
            </a:pPr>
            <a:endParaRPr lang="en-US" sz="1150" dirty="0"/>
          </a:p>
        </p:txBody>
      </p:sp>
      <p:sp>
        <p:nvSpPr>
          <p:cNvPr id="14" name="Text 11"/>
          <p:cNvSpPr/>
          <p:nvPr/>
        </p:nvSpPr>
        <p:spPr>
          <a:xfrm>
            <a:off x="1051560" y="4306824"/>
            <a:ext cx="4526280" cy="457200"/>
          </a:xfrm>
          <a:prstGeom prst="rect">
            <a:avLst/>
          </a:prstGeom>
          <a:noFill/>
          <a:ln/>
        </p:spPr>
        <p:txBody>
          <a:bodyPr wrap="square" rtlCol="0" anchor="ctr"/>
          <a:lstStyle/>
          <a:p>
            <a:pPr marL="0" indent="0">
              <a:buNone/>
            </a:pPr>
            <a:endParaRPr lang="en-US" sz="1150" dirty="0"/>
          </a:p>
        </p:txBody>
      </p:sp>
      <p:sp>
        <p:nvSpPr>
          <p:cNvPr id="25" name="Text 21"/>
          <p:cNvSpPr/>
          <p:nvPr/>
        </p:nvSpPr>
        <p:spPr>
          <a:xfrm>
            <a:off x="548640" y="5257800"/>
            <a:ext cx="11064240" cy="365760"/>
          </a:xfrm>
          <a:prstGeom prst="rect">
            <a:avLst/>
          </a:prstGeom>
          <a:noFill/>
          <a:ln/>
        </p:spPr>
        <p:txBody>
          <a:bodyPr wrap="square" rtlCol="0" anchor="ctr"/>
          <a:lstStyle/>
          <a:p>
            <a:pPr marL="0" indent="0">
              <a:buNone/>
            </a:pPr>
            <a:endParaRPr lang="en-US" sz="1050" dirty="0"/>
          </a:p>
        </p:txBody>
      </p:sp>
      <p:sp>
        <p:nvSpPr>
          <p:cNvPr id="26" name="Text 22"/>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Text 2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11</a:t>
            </a:r>
            <a:endParaRPr lang="en-US" sz="900" dirty="0"/>
          </a:p>
        </p:txBody>
      </p:sp>
      <p:pic>
        <p:nvPicPr>
          <p:cNvPr id="30" name="Picture 29">
            <a:extLst>
              <a:ext uri="{FF2B5EF4-FFF2-40B4-BE49-F238E27FC236}">
                <a16:creationId xmlns:a16="http://schemas.microsoft.com/office/drawing/2014/main" id="{FEA6929F-8D14-9B06-6000-111B9AA96B2D}"/>
              </a:ext>
            </a:extLst>
          </p:cNvPr>
          <p:cNvPicPr>
            <a:picLocks noChangeAspect="1"/>
          </p:cNvPicPr>
          <p:nvPr/>
        </p:nvPicPr>
        <p:blipFill>
          <a:blip r:embed="rId4"/>
          <a:stretch>
            <a:fillRect/>
          </a:stretch>
        </p:blipFill>
        <p:spPr>
          <a:xfrm>
            <a:off x="1642014" y="1789662"/>
            <a:ext cx="9587370" cy="43168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20F64EB-16AE-6B94-6E9C-3776D39376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27B3DF-876E-9F46-0C3C-C011B50E7C02}"/>
              </a:ext>
            </a:extLst>
          </p:cNvPr>
          <p:cNvSpPr/>
          <p:nvPr/>
        </p:nvSpPr>
        <p:spPr>
          <a:xfrm>
            <a:off x="548640" y="384048"/>
            <a:ext cx="7315200" cy="320040"/>
          </a:xfrm>
          <a:prstGeom prst="rect">
            <a:avLst/>
          </a:prstGeom>
          <a:noFill/>
          <a:ln/>
        </p:spPr>
        <p:txBody>
          <a:bodyPr wrap="square" rtlCol="0" anchor="ctr"/>
          <a:lstStyle/>
          <a:p>
            <a:pPr marL="0" indent="0">
              <a:buNone/>
            </a:pPr>
            <a:endParaRPr lang="en-US" sz="1250" dirty="0"/>
          </a:p>
        </p:txBody>
      </p:sp>
      <p:sp>
        <p:nvSpPr>
          <p:cNvPr id="3" name="Text 1">
            <a:extLst>
              <a:ext uri="{FF2B5EF4-FFF2-40B4-BE49-F238E27FC236}">
                <a16:creationId xmlns:a16="http://schemas.microsoft.com/office/drawing/2014/main" id="{A01BA101-E17F-3534-7500-FDA703CCCA15}"/>
              </a:ext>
            </a:extLst>
          </p:cNvPr>
          <p:cNvSpPr/>
          <p:nvPr/>
        </p:nvSpPr>
        <p:spPr>
          <a:xfrm>
            <a:off x="548640" y="352044"/>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rPr>
              <a:t>Tableau Dashboards</a:t>
            </a:r>
            <a:endParaRPr lang="en-US" sz="3000" dirty="0"/>
          </a:p>
        </p:txBody>
      </p:sp>
      <p:sp>
        <p:nvSpPr>
          <p:cNvPr id="5" name="Shape 3">
            <a:extLst>
              <a:ext uri="{FF2B5EF4-FFF2-40B4-BE49-F238E27FC236}">
                <a16:creationId xmlns:a16="http://schemas.microsoft.com/office/drawing/2014/main" id="{95D8C62A-094E-4D9A-F4A0-0D5CDC28628D}"/>
              </a:ext>
            </a:extLst>
          </p:cNvPr>
          <p:cNvSpPr/>
          <p:nvPr/>
        </p:nvSpPr>
        <p:spPr>
          <a:xfrm>
            <a:off x="548639" y="1298448"/>
            <a:ext cx="10897573" cy="5076412"/>
          </a:xfrm>
          <a:prstGeom prst="roundRect">
            <a:avLst>
              <a:gd name="adj" fmla="val 2667"/>
            </a:avLst>
          </a:prstGeom>
          <a:solidFill>
            <a:srgbClr val="E8EEF9"/>
          </a:solidFill>
          <a:ln/>
        </p:spPr>
        <p:txBody>
          <a:bodyPr/>
          <a:lstStyle/>
          <a:p>
            <a:endParaRPr lang="en-IN"/>
          </a:p>
        </p:txBody>
      </p:sp>
      <p:sp>
        <p:nvSpPr>
          <p:cNvPr id="6" name="Shape 4">
            <a:extLst>
              <a:ext uri="{FF2B5EF4-FFF2-40B4-BE49-F238E27FC236}">
                <a16:creationId xmlns:a16="http://schemas.microsoft.com/office/drawing/2014/main" id="{066F57E1-D41F-72CB-BCF1-C3AFCEBC083D}"/>
              </a:ext>
            </a:extLst>
          </p:cNvPr>
          <p:cNvSpPr/>
          <p:nvPr/>
        </p:nvSpPr>
        <p:spPr>
          <a:xfrm>
            <a:off x="839172" y="1424178"/>
            <a:ext cx="548640" cy="548640"/>
          </a:xfrm>
          <a:prstGeom prst="ellipse">
            <a:avLst/>
          </a:prstGeom>
          <a:solidFill>
            <a:srgbClr val="F2994A"/>
          </a:solidFill>
          <a:ln/>
        </p:spPr>
        <p:txBody>
          <a:bodyPr/>
          <a:lstStyle/>
          <a:p>
            <a:endParaRPr lang="en-IN"/>
          </a:p>
        </p:txBody>
      </p:sp>
      <p:pic>
        <p:nvPicPr>
          <p:cNvPr id="7" name="Image 0" descr="icons/target.png">
            <a:extLst>
              <a:ext uri="{FF2B5EF4-FFF2-40B4-BE49-F238E27FC236}">
                <a16:creationId xmlns:a16="http://schemas.microsoft.com/office/drawing/2014/main" id="{914D0984-63A9-6C6B-3291-AF3BB24F12A5}"/>
              </a:ext>
            </a:extLst>
          </p:cNvPr>
          <p:cNvPicPr>
            <a:picLocks noChangeAspect="1"/>
          </p:cNvPicPr>
          <p:nvPr/>
        </p:nvPicPr>
        <p:blipFill>
          <a:blip r:embed="rId3"/>
          <a:stretch>
            <a:fillRect/>
          </a:stretch>
        </p:blipFill>
        <p:spPr>
          <a:xfrm>
            <a:off x="962616" y="1547622"/>
            <a:ext cx="301752" cy="301752"/>
          </a:xfrm>
          <a:prstGeom prst="rect">
            <a:avLst/>
          </a:prstGeom>
        </p:spPr>
      </p:pic>
      <p:sp>
        <p:nvSpPr>
          <p:cNvPr id="8" name="Text 5">
            <a:extLst>
              <a:ext uri="{FF2B5EF4-FFF2-40B4-BE49-F238E27FC236}">
                <a16:creationId xmlns:a16="http://schemas.microsoft.com/office/drawing/2014/main" id="{39FD2042-7404-E541-D29E-1FE6A62FAE01}"/>
              </a:ext>
            </a:extLst>
          </p:cNvPr>
          <p:cNvSpPr/>
          <p:nvPr/>
        </p:nvSpPr>
        <p:spPr>
          <a:xfrm>
            <a:off x="1554480" y="1357884"/>
            <a:ext cx="4160520" cy="50292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Dashboard 2 — Customer and Marketing Dashboard</a:t>
            </a:r>
          </a:p>
        </p:txBody>
      </p:sp>
      <p:sp>
        <p:nvSpPr>
          <p:cNvPr id="10" name="Text 7">
            <a:extLst>
              <a:ext uri="{FF2B5EF4-FFF2-40B4-BE49-F238E27FC236}">
                <a16:creationId xmlns:a16="http://schemas.microsoft.com/office/drawing/2014/main" id="{C34E4758-62E7-1E28-DF96-48B3D77430EB}"/>
              </a:ext>
            </a:extLst>
          </p:cNvPr>
          <p:cNvSpPr/>
          <p:nvPr/>
        </p:nvSpPr>
        <p:spPr>
          <a:xfrm>
            <a:off x="1051560" y="3337560"/>
            <a:ext cx="4526280" cy="457200"/>
          </a:xfrm>
          <a:prstGeom prst="rect">
            <a:avLst/>
          </a:prstGeom>
          <a:noFill/>
          <a:ln/>
        </p:spPr>
        <p:txBody>
          <a:bodyPr wrap="square" rtlCol="0" anchor="ctr"/>
          <a:lstStyle/>
          <a:p>
            <a:pPr marL="0" indent="0">
              <a:buNone/>
            </a:pPr>
            <a:endParaRPr lang="en-US" sz="1150" dirty="0"/>
          </a:p>
        </p:txBody>
      </p:sp>
      <p:sp>
        <p:nvSpPr>
          <p:cNvPr id="12" name="Text 9">
            <a:extLst>
              <a:ext uri="{FF2B5EF4-FFF2-40B4-BE49-F238E27FC236}">
                <a16:creationId xmlns:a16="http://schemas.microsoft.com/office/drawing/2014/main" id="{E398BCCA-2946-9989-8DBF-514FCCF4FF01}"/>
              </a:ext>
            </a:extLst>
          </p:cNvPr>
          <p:cNvSpPr/>
          <p:nvPr/>
        </p:nvSpPr>
        <p:spPr>
          <a:xfrm>
            <a:off x="1051560" y="3822192"/>
            <a:ext cx="4526280" cy="457200"/>
          </a:xfrm>
          <a:prstGeom prst="rect">
            <a:avLst/>
          </a:prstGeom>
          <a:noFill/>
          <a:ln/>
        </p:spPr>
        <p:txBody>
          <a:bodyPr wrap="square" rtlCol="0" anchor="ctr"/>
          <a:lstStyle/>
          <a:p>
            <a:pPr marL="0" indent="0">
              <a:buNone/>
            </a:pPr>
            <a:endParaRPr lang="en-US" sz="1150" dirty="0"/>
          </a:p>
        </p:txBody>
      </p:sp>
      <p:sp>
        <p:nvSpPr>
          <p:cNvPr id="14" name="Text 11">
            <a:extLst>
              <a:ext uri="{FF2B5EF4-FFF2-40B4-BE49-F238E27FC236}">
                <a16:creationId xmlns:a16="http://schemas.microsoft.com/office/drawing/2014/main" id="{8A38C28F-84E5-0F47-D51A-4C22C4552569}"/>
              </a:ext>
            </a:extLst>
          </p:cNvPr>
          <p:cNvSpPr/>
          <p:nvPr/>
        </p:nvSpPr>
        <p:spPr>
          <a:xfrm>
            <a:off x="1051560" y="4306824"/>
            <a:ext cx="4526280" cy="457200"/>
          </a:xfrm>
          <a:prstGeom prst="rect">
            <a:avLst/>
          </a:prstGeom>
          <a:noFill/>
          <a:ln/>
        </p:spPr>
        <p:txBody>
          <a:bodyPr wrap="square" rtlCol="0" anchor="ctr"/>
          <a:lstStyle/>
          <a:p>
            <a:pPr marL="0" indent="0">
              <a:buNone/>
            </a:pPr>
            <a:endParaRPr lang="en-US" sz="1150" dirty="0"/>
          </a:p>
        </p:txBody>
      </p:sp>
      <p:sp>
        <p:nvSpPr>
          <p:cNvPr id="25" name="Text 21">
            <a:extLst>
              <a:ext uri="{FF2B5EF4-FFF2-40B4-BE49-F238E27FC236}">
                <a16:creationId xmlns:a16="http://schemas.microsoft.com/office/drawing/2014/main" id="{F1CFD91A-5C59-2F5F-3345-27E88811E85E}"/>
              </a:ext>
            </a:extLst>
          </p:cNvPr>
          <p:cNvSpPr/>
          <p:nvPr/>
        </p:nvSpPr>
        <p:spPr>
          <a:xfrm>
            <a:off x="548640" y="5257800"/>
            <a:ext cx="11064240" cy="365760"/>
          </a:xfrm>
          <a:prstGeom prst="rect">
            <a:avLst/>
          </a:prstGeom>
          <a:noFill/>
          <a:ln/>
        </p:spPr>
        <p:txBody>
          <a:bodyPr wrap="square" rtlCol="0" anchor="ctr"/>
          <a:lstStyle/>
          <a:p>
            <a:pPr marL="0" indent="0">
              <a:buNone/>
            </a:pPr>
            <a:endParaRPr lang="en-US" sz="1050" dirty="0"/>
          </a:p>
        </p:txBody>
      </p:sp>
      <p:sp>
        <p:nvSpPr>
          <p:cNvPr id="26" name="Text 22">
            <a:extLst>
              <a:ext uri="{FF2B5EF4-FFF2-40B4-BE49-F238E27FC236}">
                <a16:creationId xmlns:a16="http://schemas.microsoft.com/office/drawing/2014/main" id="{C52FFE63-5164-BD5C-7A04-93E9B4A51E06}"/>
              </a:ext>
            </a:extLst>
          </p:cNvPr>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Text 23">
            <a:extLst>
              <a:ext uri="{FF2B5EF4-FFF2-40B4-BE49-F238E27FC236}">
                <a16:creationId xmlns:a16="http://schemas.microsoft.com/office/drawing/2014/main" id="{FCFB75A3-E14C-7447-5E3B-292675C0E85C}"/>
              </a:ext>
            </a:extLst>
          </p:cNvPr>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12</a:t>
            </a:r>
            <a:endParaRPr lang="en-US" sz="900" dirty="0"/>
          </a:p>
        </p:txBody>
      </p:sp>
      <p:pic>
        <p:nvPicPr>
          <p:cNvPr id="9" name="Picture 8">
            <a:extLst>
              <a:ext uri="{FF2B5EF4-FFF2-40B4-BE49-F238E27FC236}">
                <a16:creationId xmlns:a16="http://schemas.microsoft.com/office/drawing/2014/main" id="{8F3E6052-16EA-6F2D-42A2-B2AA81EED3A9}"/>
              </a:ext>
            </a:extLst>
          </p:cNvPr>
          <p:cNvPicPr>
            <a:picLocks noChangeAspect="1"/>
          </p:cNvPicPr>
          <p:nvPr/>
        </p:nvPicPr>
        <p:blipFill>
          <a:blip r:embed="rId4"/>
          <a:stretch>
            <a:fillRect/>
          </a:stretch>
        </p:blipFill>
        <p:spPr>
          <a:xfrm>
            <a:off x="1554480" y="1897380"/>
            <a:ext cx="9585960" cy="4224560"/>
          </a:xfrm>
          <a:prstGeom prst="rect">
            <a:avLst/>
          </a:prstGeom>
        </p:spPr>
      </p:pic>
    </p:spTree>
    <p:extLst>
      <p:ext uri="{BB962C8B-B14F-4D97-AF65-F5344CB8AC3E}">
        <p14:creationId xmlns:p14="http://schemas.microsoft.com/office/powerpoint/2010/main" val="3798559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p:cNvSpPr/>
          <p:nvPr/>
        </p:nvSpPr>
        <p:spPr>
          <a:xfrm>
            <a:off x="548640" y="352044"/>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rPr>
              <a:t>Power BI Dashboards</a:t>
            </a:r>
            <a:endParaRPr lang="en-US" sz="3000" dirty="0"/>
          </a:p>
        </p:txBody>
      </p:sp>
      <p:sp>
        <p:nvSpPr>
          <p:cNvPr id="5" name="Card"/>
          <p:cNvSpPr/>
          <p:nvPr/>
        </p:nvSpPr>
        <p:spPr>
          <a:xfrm>
            <a:off x="548639" y="1298448"/>
            <a:ext cx="10897573" cy="5076412"/>
          </a:xfrm>
          <a:prstGeom prst="roundRect">
            <a:avLst>
              <a:gd name="adj" fmla="val 2667"/>
            </a:avLst>
          </a:prstGeom>
          <a:solidFill>
            <a:srgbClr val="E8EEF9"/>
          </a:solidFill>
          <a:ln/>
        </p:spPr>
        <p:txBody>
          <a:bodyPr/>
          <a:lstStyle/>
          <a:p>
            <a:endParaRPr lang="en-IN" dirty="0"/>
          </a:p>
        </p:txBody>
      </p:sp>
      <p:sp>
        <p:nvSpPr>
          <p:cNvPr id="8" name="Text 8"/>
          <p:cNvSpPr/>
          <p:nvPr/>
        </p:nvSpPr>
        <p:spPr>
          <a:xfrm>
            <a:off x="928018" y="1510610"/>
            <a:ext cx="4808706" cy="320000"/>
          </a:xfrm>
          <a:prstGeom prst="rect">
            <a:avLst/>
          </a:prstGeom>
          <a:noFill/>
          <a:ln/>
        </p:spPr>
        <p:txBody>
          <a:bodyPr wrap="square"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Executive Overview</a:t>
            </a:r>
          </a:p>
        </p:txBody>
      </p:sp>
      <p:sp>
        <p:nvSpPr>
          <p:cNvPr id="10" name="Text 10"/>
          <p:cNvSpPr/>
          <p:nvPr/>
        </p:nvSpPr>
        <p:spPr>
          <a:xfrm>
            <a:off x="6255534" y="1524604"/>
            <a:ext cx="4808706" cy="320000"/>
          </a:xfrm>
          <a:prstGeom prst="rect">
            <a:avLst/>
          </a:prstGeom>
          <a:noFill/>
          <a:ln/>
        </p:spPr>
        <p:txBody>
          <a:bodyPr wrap="square"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Revenue Analysis</a:t>
            </a:r>
          </a:p>
        </p:txBody>
      </p:sp>
      <p:pic>
        <p:nvPicPr>
          <p:cNvPr id="30" name="Picture Left"/>
          <p:cNvPicPr>
            <a:picLocks noChangeAspect="1"/>
          </p:cNvPicPr>
          <p:nvPr/>
        </p:nvPicPr>
        <p:blipFill>
          <a:blip r:embed="rId2"/>
          <a:stretch>
            <a:fillRect/>
          </a:stretch>
        </p:blipFill>
        <p:spPr>
          <a:xfrm>
            <a:off x="1005838" y="1990929"/>
            <a:ext cx="5005857" cy="3543196"/>
          </a:xfrm>
          <a:prstGeom prst="rect">
            <a:avLst/>
          </a:prstGeom>
          <a:ln w="6350">
            <a:solidFill>
              <a:srgbClr val="D5DCE8"/>
            </a:solidFill>
          </a:ln>
        </p:spPr>
      </p:pic>
      <p:pic>
        <p:nvPicPr>
          <p:cNvPr id="31" name="Picture Right"/>
          <p:cNvPicPr>
            <a:picLocks noChangeAspect="1"/>
          </p:cNvPicPr>
          <p:nvPr/>
        </p:nvPicPr>
        <p:blipFill>
          <a:blip r:embed="rId3"/>
          <a:stretch>
            <a:fillRect/>
          </a:stretch>
        </p:blipFill>
        <p:spPr>
          <a:xfrm>
            <a:off x="6180304" y="1990928"/>
            <a:ext cx="5005857" cy="3543196"/>
          </a:xfrm>
          <a:prstGeom prst="rect">
            <a:avLst/>
          </a:prstGeom>
          <a:ln w="6350">
            <a:solidFill>
              <a:srgbClr val="D5DCE8"/>
            </a:solidFill>
          </a:ln>
        </p:spPr>
      </p:pic>
      <p:sp>
        <p:nvSpPr>
          <p:cNvPr id="26" name="Footer Text"/>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Page Number"/>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p:cNvSpPr/>
          <p:nvPr/>
        </p:nvSpPr>
        <p:spPr>
          <a:xfrm>
            <a:off x="548640" y="352044"/>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rPr>
              <a:t>Power BI Dashboards</a:t>
            </a:r>
            <a:endParaRPr lang="en-US" sz="3000" dirty="0"/>
          </a:p>
        </p:txBody>
      </p:sp>
      <p:sp>
        <p:nvSpPr>
          <p:cNvPr id="5" name="Card"/>
          <p:cNvSpPr/>
          <p:nvPr/>
        </p:nvSpPr>
        <p:spPr>
          <a:xfrm>
            <a:off x="548639" y="1298448"/>
            <a:ext cx="10897573" cy="5076412"/>
          </a:xfrm>
          <a:prstGeom prst="roundRect">
            <a:avLst>
              <a:gd name="adj" fmla="val 2667"/>
            </a:avLst>
          </a:prstGeom>
          <a:solidFill>
            <a:srgbClr val="E8EEF9"/>
          </a:solidFill>
          <a:ln/>
        </p:spPr>
        <p:txBody>
          <a:bodyPr/>
          <a:lstStyle/>
          <a:p>
            <a:endParaRPr lang="en-IN" dirty="0"/>
          </a:p>
        </p:txBody>
      </p:sp>
      <p:sp>
        <p:nvSpPr>
          <p:cNvPr id="8" name="Text 8"/>
          <p:cNvSpPr/>
          <p:nvPr/>
        </p:nvSpPr>
        <p:spPr>
          <a:xfrm>
            <a:off x="1005839" y="1558448"/>
            <a:ext cx="4808706" cy="320000"/>
          </a:xfrm>
          <a:prstGeom prst="rect">
            <a:avLst/>
          </a:prstGeom>
          <a:noFill/>
          <a:ln/>
        </p:spPr>
        <p:txBody>
          <a:bodyPr wrap="square"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Orders Analysis</a:t>
            </a:r>
          </a:p>
        </p:txBody>
      </p:sp>
      <p:sp>
        <p:nvSpPr>
          <p:cNvPr id="10" name="Text 10"/>
          <p:cNvSpPr/>
          <p:nvPr/>
        </p:nvSpPr>
        <p:spPr>
          <a:xfrm>
            <a:off x="6271745" y="1547934"/>
            <a:ext cx="4808706" cy="320000"/>
          </a:xfrm>
          <a:prstGeom prst="rect">
            <a:avLst/>
          </a:prstGeom>
          <a:noFill/>
          <a:ln/>
        </p:spPr>
        <p:txBody>
          <a:bodyPr wrap="square"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Returns Analysis</a:t>
            </a:r>
          </a:p>
        </p:txBody>
      </p:sp>
      <p:pic>
        <p:nvPicPr>
          <p:cNvPr id="30" name="Picture Left"/>
          <p:cNvPicPr>
            <a:picLocks noChangeAspect="1"/>
          </p:cNvPicPr>
          <p:nvPr/>
        </p:nvPicPr>
        <p:blipFill>
          <a:blip r:embed="rId2"/>
          <a:stretch>
            <a:fillRect/>
          </a:stretch>
        </p:blipFill>
        <p:spPr>
          <a:xfrm>
            <a:off x="745788" y="2282392"/>
            <a:ext cx="5197811" cy="3277159"/>
          </a:xfrm>
          <a:prstGeom prst="rect">
            <a:avLst/>
          </a:prstGeom>
          <a:ln w="6350">
            <a:solidFill>
              <a:srgbClr val="D5DCE8"/>
            </a:solidFill>
          </a:ln>
        </p:spPr>
      </p:pic>
      <p:pic>
        <p:nvPicPr>
          <p:cNvPr id="31" name="Picture Right"/>
          <p:cNvPicPr>
            <a:picLocks noChangeAspect="1"/>
          </p:cNvPicPr>
          <p:nvPr/>
        </p:nvPicPr>
        <p:blipFill>
          <a:blip r:embed="rId3"/>
          <a:stretch>
            <a:fillRect/>
          </a:stretch>
        </p:blipFill>
        <p:spPr>
          <a:xfrm>
            <a:off x="6180304" y="2282393"/>
            <a:ext cx="5094247" cy="3277159"/>
          </a:xfrm>
          <a:prstGeom prst="rect">
            <a:avLst/>
          </a:prstGeom>
          <a:ln w="6350">
            <a:solidFill>
              <a:srgbClr val="D5DCE8"/>
            </a:solidFill>
          </a:ln>
        </p:spPr>
      </p:pic>
      <p:sp>
        <p:nvSpPr>
          <p:cNvPr id="26" name="Footer Text"/>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Page Number"/>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p:cNvSpPr/>
          <p:nvPr/>
        </p:nvSpPr>
        <p:spPr>
          <a:xfrm>
            <a:off x="548640" y="352044"/>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rPr>
              <a:t>Power BI Dashboards</a:t>
            </a:r>
            <a:endParaRPr lang="en-US" sz="3000" dirty="0"/>
          </a:p>
        </p:txBody>
      </p:sp>
      <p:sp>
        <p:nvSpPr>
          <p:cNvPr id="5" name="Card"/>
          <p:cNvSpPr/>
          <p:nvPr/>
        </p:nvSpPr>
        <p:spPr>
          <a:xfrm>
            <a:off x="548639" y="1298448"/>
            <a:ext cx="10897573" cy="5076412"/>
          </a:xfrm>
          <a:prstGeom prst="roundRect">
            <a:avLst>
              <a:gd name="adj" fmla="val 2667"/>
            </a:avLst>
          </a:prstGeom>
          <a:solidFill>
            <a:srgbClr val="E8EEF9"/>
          </a:solidFill>
          <a:ln/>
        </p:spPr>
        <p:txBody>
          <a:bodyPr/>
          <a:lstStyle/>
          <a:p>
            <a:endParaRPr lang="en-IN" dirty="0"/>
          </a:p>
        </p:txBody>
      </p:sp>
      <p:sp>
        <p:nvSpPr>
          <p:cNvPr id="8" name="Text 8"/>
          <p:cNvSpPr/>
          <p:nvPr/>
        </p:nvSpPr>
        <p:spPr>
          <a:xfrm>
            <a:off x="997734" y="1604278"/>
            <a:ext cx="4808706" cy="320000"/>
          </a:xfrm>
          <a:prstGeom prst="rect">
            <a:avLst/>
          </a:prstGeom>
          <a:noFill/>
          <a:ln/>
        </p:spPr>
        <p:txBody>
          <a:bodyPr wrap="square"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Customer Analysis</a:t>
            </a:r>
          </a:p>
        </p:txBody>
      </p:sp>
      <p:sp>
        <p:nvSpPr>
          <p:cNvPr id="10" name="Text 10"/>
          <p:cNvSpPr/>
          <p:nvPr/>
        </p:nvSpPr>
        <p:spPr>
          <a:xfrm>
            <a:off x="6096000" y="1604278"/>
            <a:ext cx="4808706" cy="320000"/>
          </a:xfrm>
          <a:prstGeom prst="rect">
            <a:avLst/>
          </a:prstGeom>
          <a:noFill/>
          <a:ln/>
        </p:spPr>
        <p:txBody>
          <a:bodyPr wrap="square"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Campaign Analysis</a:t>
            </a:r>
          </a:p>
        </p:txBody>
      </p:sp>
      <p:pic>
        <p:nvPicPr>
          <p:cNvPr id="30" name="Picture Left"/>
          <p:cNvPicPr>
            <a:picLocks noChangeAspect="1"/>
          </p:cNvPicPr>
          <p:nvPr/>
        </p:nvPicPr>
        <p:blipFill>
          <a:blip r:embed="rId2"/>
          <a:stretch>
            <a:fillRect/>
          </a:stretch>
        </p:blipFill>
        <p:spPr>
          <a:xfrm>
            <a:off x="745788" y="2230108"/>
            <a:ext cx="5068757" cy="3502726"/>
          </a:xfrm>
          <a:prstGeom prst="rect">
            <a:avLst/>
          </a:prstGeom>
          <a:ln w="6350">
            <a:solidFill>
              <a:srgbClr val="D5DCE8"/>
            </a:solidFill>
          </a:ln>
        </p:spPr>
      </p:pic>
      <p:pic>
        <p:nvPicPr>
          <p:cNvPr id="31" name="Picture Right"/>
          <p:cNvPicPr>
            <a:picLocks noChangeAspect="1"/>
          </p:cNvPicPr>
          <p:nvPr/>
        </p:nvPicPr>
        <p:blipFill>
          <a:blip r:embed="rId3"/>
          <a:stretch>
            <a:fillRect/>
          </a:stretch>
        </p:blipFill>
        <p:spPr>
          <a:xfrm>
            <a:off x="6180304" y="2230108"/>
            <a:ext cx="5068757" cy="3502726"/>
          </a:xfrm>
          <a:prstGeom prst="rect">
            <a:avLst/>
          </a:prstGeom>
          <a:ln w="6350">
            <a:solidFill>
              <a:srgbClr val="D5DCE8"/>
            </a:solidFill>
          </a:ln>
        </p:spPr>
      </p:pic>
      <p:sp>
        <p:nvSpPr>
          <p:cNvPr id="26" name="Footer Text"/>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27" name="Page Number"/>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F2994A"/>
                </a:solidFill>
                <a:latin typeface="Calibri" pitchFamily="34" charset="0"/>
                <a:ea typeface="Calibri" pitchFamily="34" charset="-122"/>
                <a:cs typeface="Calibri" pitchFamily="34" charset="-120"/>
              </a:rPr>
              <a:t>KEY INSIGHTS</a:t>
            </a:r>
            <a:endParaRPr lang="en-US" sz="125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What the Data Tells Us</a:t>
            </a:r>
            <a:endParaRPr lang="en-US" sz="3000" dirty="0"/>
          </a:p>
        </p:txBody>
      </p:sp>
      <p:sp>
        <p:nvSpPr>
          <p:cNvPr id="4" name="Shape 2"/>
          <p:cNvSpPr/>
          <p:nvPr/>
        </p:nvSpPr>
        <p:spPr>
          <a:xfrm>
            <a:off x="548640" y="1737360"/>
            <a:ext cx="502920" cy="502920"/>
          </a:xfrm>
          <a:prstGeom prst="ellipse">
            <a:avLst/>
          </a:prstGeom>
          <a:solidFill>
            <a:srgbClr val="F2994A"/>
          </a:solidFill>
          <a:ln/>
        </p:spPr>
        <p:txBody>
          <a:bodyPr/>
          <a:lstStyle/>
          <a:p>
            <a:endParaRPr lang="en-IN"/>
          </a:p>
        </p:txBody>
      </p:sp>
      <p:pic>
        <p:nvPicPr>
          <p:cNvPr id="5" name="Image 0" descr="icons/trending.png"/>
          <p:cNvPicPr>
            <a:picLocks noChangeAspect="1"/>
          </p:cNvPicPr>
          <p:nvPr/>
        </p:nvPicPr>
        <p:blipFill>
          <a:blip r:embed="rId3"/>
          <a:stretch>
            <a:fillRect/>
          </a:stretch>
        </p:blipFill>
        <p:spPr>
          <a:xfrm>
            <a:off x="661797" y="1850517"/>
            <a:ext cx="276606" cy="276606"/>
          </a:xfrm>
          <a:prstGeom prst="rect">
            <a:avLst/>
          </a:prstGeom>
        </p:spPr>
      </p:pic>
      <p:sp>
        <p:nvSpPr>
          <p:cNvPr id="6" name="Text 3"/>
          <p:cNvSpPr/>
          <p:nvPr/>
        </p:nvSpPr>
        <p:spPr>
          <a:xfrm>
            <a:off x="1234440" y="1709928"/>
            <a:ext cx="539496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Electronics is the growth engine</a:t>
            </a:r>
            <a:endParaRPr lang="en-US" sz="1350" dirty="0"/>
          </a:p>
        </p:txBody>
      </p:sp>
      <p:sp>
        <p:nvSpPr>
          <p:cNvPr id="7" name="Text 4"/>
          <p:cNvSpPr/>
          <p:nvPr/>
        </p:nvSpPr>
        <p:spPr>
          <a:xfrm>
            <a:off x="1234440" y="2011680"/>
            <a:ext cx="5394960" cy="502920"/>
          </a:xfrm>
          <a:prstGeom prst="rect">
            <a:avLst/>
          </a:prstGeom>
          <a:noFill/>
          <a:ln/>
        </p:spPr>
        <p:txBody>
          <a:bodyPr wrap="square"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77% of revenue sits in one category — concentration risk if demand dips</a:t>
            </a:r>
            <a:endParaRPr lang="en-US" sz="1050" dirty="0"/>
          </a:p>
        </p:txBody>
      </p:sp>
      <p:sp>
        <p:nvSpPr>
          <p:cNvPr id="8" name="Shape 5"/>
          <p:cNvSpPr/>
          <p:nvPr/>
        </p:nvSpPr>
        <p:spPr>
          <a:xfrm>
            <a:off x="548640" y="2770632"/>
            <a:ext cx="502920" cy="502920"/>
          </a:xfrm>
          <a:prstGeom prst="ellipse">
            <a:avLst/>
          </a:prstGeom>
          <a:solidFill>
            <a:srgbClr val="F2994A"/>
          </a:solidFill>
          <a:ln/>
        </p:spPr>
        <p:txBody>
          <a:bodyPr/>
          <a:lstStyle/>
          <a:p>
            <a:endParaRPr lang="en-IN"/>
          </a:p>
        </p:txBody>
      </p:sp>
      <p:pic>
        <p:nvPicPr>
          <p:cNvPr id="9" name="Image 1" descr="icons/users.png"/>
          <p:cNvPicPr>
            <a:picLocks noChangeAspect="1"/>
          </p:cNvPicPr>
          <p:nvPr/>
        </p:nvPicPr>
        <p:blipFill>
          <a:blip r:embed="rId4"/>
          <a:stretch>
            <a:fillRect/>
          </a:stretch>
        </p:blipFill>
        <p:spPr>
          <a:xfrm>
            <a:off x="661797" y="2883789"/>
            <a:ext cx="276606" cy="276606"/>
          </a:xfrm>
          <a:prstGeom prst="rect">
            <a:avLst/>
          </a:prstGeom>
        </p:spPr>
      </p:pic>
      <p:sp>
        <p:nvSpPr>
          <p:cNvPr id="10" name="Text 6"/>
          <p:cNvSpPr/>
          <p:nvPr/>
        </p:nvSpPr>
        <p:spPr>
          <a:xfrm>
            <a:off x="1234440" y="2743200"/>
            <a:ext cx="539496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Loyalty pays off</a:t>
            </a:r>
            <a:endParaRPr lang="en-US" sz="1350" dirty="0"/>
          </a:p>
        </p:txBody>
      </p:sp>
      <p:sp>
        <p:nvSpPr>
          <p:cNvPr id="11" name="Text 7"/>
          <p:cNvSpPr/>
          <p:nvPr/>
        </p:nvSpPr>
        <p:spPr>
          <a:xfrm>
            <a:off x="1234440" y="3044952"/>
            <a:ext cx="5394960" cy="502920"/>
          </a:xfrm>
          <a:prstGeom prst="rect">
            <a:avLst/>
          </a:prstGeom>
          <a:noFill/>
          <a:ln/>
        </p:spPr>
        <p:txBody>
          <a:bodyPr wrap="square"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Repeat customers (4,428 orders) already outnumber first-timers</a:t>
            </a:r>
            <a:endParaRPr lang="en-US" sz="1050" dirty="0"/>
          </a:p>
        </p:txBody>
      </p:sp>
      <p:sp>
        <p:nvSpPr>
          <p:cNvPr id="12" name="Shape 8"/>
          <p:cNvSpPr/>
          <p:nvPr/>
        </p:nvSpPr>
        <p:spPr>
          <a:xfrm>
            <a:off x="548640" y="3803904"/>
            <a:ext cx="502920" cy="502920"/>
          </a:xfrm>
          <a:prstGeom prst="ellipse">
            <a:avLst/>
          </a:prstGeom>
          <a:solidFill>
            <a:srgbClr val="F2994A"/>
          </a:solidFill>
          <a:ln/>
        </p:spPr>
        <p:txBody>
          <a:bodyPr/>
          <a:lstStyle/>
          <a:p>
            <a:endParaRPr lang="en-IN"/>
          </a:p>
        </p:txBody>
      </p:sp>
      <p:pic>
        <p:nvPicPr>
          <p:cNvPr id="13" name="Image 2" descr="icons/alert.png"/>
          <p:cNvPicPr>
            <a:picLocks noChangeAspect="1"/>
          </p:cNvPicPr>
          <p:nvPr/>
        </p:nvPicPr>
        <p:blipFill>
          <a:blip r:embed="rId5"/>
          <a:stretch>
            <a:fillRect/>
          </a:stretch>
        </p:blipFill>
        <p:spPr>
          <a:xfrm>
            <a:off x="661797" y="3917061"/>
            <a:ext cx="276606" cy="276606"/>
          </a:xfrm>
          <a:prstGeom prst="rect">
            <a:avLst/>
          </a:prstGeom>
        </p:spPr>
      </p:pic>
      <p:sp>
        <p:nvSpPr>
          <p:cNvPr id="14" name="Text 9"/>
          <p:cNvSpPr/>
          <p:nvPr/>
        </p:nvSpPr>
        <p:spPr>
          <a:xfrm>
            <a:off x="1234440" y="3776472"/>
            <a:ext cx="539496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Returns need attention</a:t>
            </a:r>
            <a:endParaRPr lang="en-US" sz="1350" dirty="0"/>
          </a:p>
        </p:txBody>
      </p:sp>
      <p:sp>
        <p:nvSpPr>
          <p:cNvPr id="15" name="Text 10"/>
          <p:cNvSpPr/>
          <p:nvPr/>
        </p:nvSpPr>
        <p:spPr>
          <a:xfrm>
            <a:off x="1234440" y="4078224"/>
            <a:ext cx="5394960" cy="502920"/>
          </a:xfrm>
          <a:prstGeom prst="rect">
            <a:avLst/>
          </a:prstGeom>
          <a:noFill/>
          <a:ln/>
        </p:spPr>
        <p:txBody>
          <a:bodyPr wrap="square"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7.6% return rate, led by ‘changed mind’, with mixed post-return feedback</a:t>
            </a:r>
            <a:endParaRPr lang="en-US" sz="1050" dirty="0"/>
          </a:p>
        </p:txBody>
      </p:sp>
      <p:sp>
        <p:nvSpPr>
          <p:cNvPr id="16" name="Shape 11"/>
          <p:cNvSpPr/>
          <p:nvPr/>
        </p:nvSpPr>
        <p:spPr>
          <a:xfrm>
            <a:off x="548640" y="4837176"/>
            <a:ext cx="502920" cy="502920"/>
          </a:xfrm>
          <a:prstGeom prst="ellipse">
            <a:avLst/>
          </a:prstGeom>
          <a:solidFill>
            <a:srgbClr val="F2994A"/>
          </a:solidFill>
          <a:ln/>
        </p:spPr>
        <p:txBody>
          <a:bodyPr/>
          <a:lstStyle/>
          <a:p>
            <a:endParaRPr lang="en-IN"/>
          </a:p>
        </p:txBody>
      </p:sp>
      <p:pic>
        <p:nvPicPr>
          <p:cNvPr id="17" name="Image 3" descr="icons/percent.png"/>
          <p:cNvPicPr>
            <a:picLocks noChangeAspect="1"/>
          </p:cNvPicPr>
          <p:nvPr/>
        </p:nvPicPr>
        <p:blipFill>
          <a:blip r:embed="rId6"/>
          <a:stretch>
            <a:fillRect/>
          </a:stretch>
        </p:blipFill>
        <p:spPr>
          <a:xfrm>
            <a:off x="661797" y="4950333"/>
            <a:ext cx="276606" cy="276606"/>
          </a:xfrm>
          <a:prstGeom prst="rect">
            <a:avLst/>
          </a:prstGeom>
        </p:spPr>
      </p:pic>
      <p:sp>
        <p:nvSpPr>
          <p:cNvPr id="18" name="Text 12"/>
          <p:cNvSpPr/>
          <p:nvPr/>
        </p:nvSpPr>
        <p:spPr>
          <a:xfrm>
            <a:off x="1234440" y="4809744"/>
            <a:ext cx="539496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Marketing is efficient</a:t>
            </a:r>
            <a:endParaRPr lang="en-US" sz="1350" dirty="0"/>
          </a:p>
        </p:txBody>
      </p:sp>
      <p:sp>
        <p:nvSpPr>
          <p:cNvPr id="19" name="Text 13"/>
          <p:cNvSpPr/>
          <p:nvPr/>
        </p:nvSpPr>
        <p:spPr>
          <a:xfrm>
            <a:off x="1234440" y="5111496"/>
            <a:ext cx="5394960" cy="502920"/>
          </a:xfrm>
          <a:prstGeom prst="rect">
            <a:avLst/>
          </a:prstGeom>
          <a:noFill/>
          <a:ln/>
        </p:spPr>
        <p:txBody>
          <a:bodyPr wrap="square"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Campaign spend converts into revenue at a strong overall ROAS</a:t>
            </a:r>
            <a:endParaRPr lang="en-US" sz="1050" dirty="0"/>
          </a:p>
        </p:txBody>
      </p:sp>
      <p:sp>
        <p:nvSpPr>
          <p:cNvPr id="20" name="Shape 14"/>
          <p:cNvSpPr/>
          <p:nvPr/>
        </p:nvSpPr>
        <p:spPr>
          <a:xfrm>
            <a:off x="7086600" y="1737360"/>
            <a:ext cx="4572000" cy="4160520"/>
          </a:xfrm>
          <a:prstGeom prst="roundRect">
            <a:avLst>
              <a:gd name="adj" fmla="val 1758"/>
            </a:avLst>
          </a:prstGeom>
          <a:solidFill>
            <a:srgbClr val="1B2A4A"/>
          </a:solidFill>
          <a:ln/>
        </p:spPr>
        <p:txBody>
          <a:bodyPr/>
          <a:lstStyle/>
          <a:p>
            <a:endParaRPr lang="en-IN"/>
          </a:p>
        </p:txBody>
      </p:sp>
      <p:sp>
        <p:nvSpPr>
          <p:cNvPr id="21" name="Text 15"/>
          <p:cNvSpPr/>
          <p:nvPr/>
        </p:nvSpPr>
        <p:spPr>
          <a:xfrm>
            <a:off x="7406640" y="1965960"/>
            <a:ext cx="3840480" cy="274320"/>
          </a:xfrm>
          <a:prstGeom prst="rect">
            <a:avLst/>
          </a:prstGeom>
          <a:noFill/>
          <a:ln/>
        </p:spPr>
        <p:txBody>
          <a:bodyPr wrap="square" rtlCol="0" anchor="ctr"/>
          <a:lstStyle/>
          <a:p>
            <a:pPr marL="0" indent="0">
              <a:buNone/>
            </a:pPr>
            <a:r>
              <a:rPr lang="en-US" sz="1100" b="1" kern="0" spc="200" dirty="0">
                <a:solidFill>
                  <a:srgbClr val="F2994A"/>
                </a:solidFill>
                <a:latin typeface="Calibri" pitchFamily="34" charset="0"/>
                <a:ea typeface="Calibri" pitchFamily="34" charset="-122"/>
                <a:cs typeface="Calibri" pitchFamily="34" charset="-120"/>
              </a:rPr>
              <a:t>RECOMMENDATIONS</a:t>
            </a:r>
            <a:endParaRPr lang="en-US" sz="1100" dirty="0"/>
          </a:p>
        </p:txBody>
      </p:sp>
      <p:sp>
        <p:nvSpPr>
          <p:cNvPr id="22" name="Text 16"/>
          <p:cNvSpPr/>
          <p:nvPr/>
        </p:nvSpPr>
        <p:spPr>
          <a:xfrm>
            <a:off x="7406640" y="2423160"/>
            <a:ext cx="365760" cy="365760"/>
          </a:xfrm>
          <a:prstGeom prst="rect">
            <a:avLst/>
          </a:prstGeom>
          <a:noFill/>
          <a:ln/>
        </p:spPr>
        <p:txBody>
          <a:bodyPr wrap="square" rtlCol="0" anchor="ctr"/>
          <a:lstStyle/>
          <a:p>
            <a:pPr marL="0" indent="0">
              <a:buNone/>
            </a:pPr>
            <a:r>
              <a:rPr lang="en-US" sz="1600" b="1" dirty="0">
                <a:solidFill>
                  <a:srgbClr val="F2994A"/>
                </a:solidFill>
                <a:latin typeface="Cambria" pitchFamily="34" charset="0"/>
                <a:ea typeface="Cambria" pitchFamily="34" charset="-122"/>
                <a:cs typeface="Cambria" pitchFamily="34" charset="-120"/>
              </a:rPr>
              <a:t>1</a:t>
            </a:r>
            <a:endParaRPr lang="en-US" sz="1600" dirty="0"/>
          </a:p>
        </p:txBody>
      </p:sp>
      <p:sp>
        <p:nvSpPr>
          <p:cNvPr id="23" name="Text 17"/>
          <p:cNvSpPr/>
          <p:nvPr/>
        </p:nvSpPr>
        <p:spPr>
          <a:xfrm>
            <a:off x="7818120" y="2423160"/>
            <a:ext cx="3657600" cy="685800"/>
          </a:xfrm>
          <a:prstGeom prst="rect">
            <a:avLst/>
          </a:prstGeom>
          <a:noFill/>
          <a:ln/>
        </p:spPr>
        <p:txBody>
          <a:bodyPr wrap="square" rtlCol="0" anchor="ctr"/>
          <a:lstStyle/>
          <a:p>
            <a:pPr marL="0" indent="0">
              <a:lnSpc>
                <a:spcPct val="120000"/>
              </a:lnSpc>
              <a:buNone/>
            </a:pPr>
            <a:r>
              <a:rPr lang="en-US" sz="1100" dirty="0">
                <a:solidFill>
                  <a:srgbClr val="FFFFFF"/>
                </a:solidFill>
                <a:latin typeface="Calibri" pitchFamily="34" charset="0"/>
                <a:ea typeface="Calibri" pitchFamily="34" charset="-122"/>
                <a:cs typeface="Calibri" pitchFamily="34" charset="-120"/>
              </a:rPr>
              <a:t>Diversify category mix — grow Fashion &amp; Home to reduce reliance on Electronics</a:t>
            </a:r>
            <a:endParaRPr lang="en-US" sz="1100" dirty="0"/>
          </a:p>
        </p:txBody>
      </p:sp>
      <p:sp>
        <p:nvSpPr>
          <p:cNvPr id="24" name="Text 18"/>
          <p:cNvSpPr/>
          <p:nvPr/>
        </p:nvSpPr>
        <p:spPr>
          <a:xfrm>
            <a:off x="7406640" y="3291840"/>
            <a:ext cx="365760" cy="365760"/>
          </a:xfrm>
          <a:prstGeom prst="rect">
            <a:avLst/>
          </a:prstGeom>
          <a:noFill/>
          <a:ln/>
        </p:spPr>
        <p:txBody>
          <a:bodyPr wrap="square" rtlCol="0" anchor="ctr"/>
          <a:lstStyle/>
          <a:p>
            <a:pPr marL="0" indent="0">
              <a:buNone/>
            </a:pPr>
            <a:r>
              <a:rPr lang="en-US" sz="1600" b="1" dirty="0">
                <a:solidFill>
                  <a:srgbClr val="F2994A"/>
                </a:solidFill>
                <a:latin typeface="Cambria" pitchFamily="34" charset="0"/>
                <a:ea typeface="Cambria" pitchFamily="34" charset="-122"/>
                <a:cs typeface="Cambria" pitchFamily="34" charset="-120"/>
              </a:rPr>
              <a:t>2</a:t>
            </a:r>
            <a:endParaRPr lang="en-US" sz="1600" dirty="0"/>
          </a:p>
        </p:txBody>
      </p:sp>
      <p:sp>
        <p:nvSpPr>
          <p:cNvPr id="25" name="Text 19"/>
          <p:cNvSpPr/>
          <p:nvPr/>
        </p:nvSpPr>
        <p:spPr>
          <a:xfrm>
            <a:off x="7818120" y="3291840"/>
            <a:ext cx="3657600" cy="685800"/>
          </a:xfrm>
          <a:prstGeom prst="rect">
            <a:avLst/>
          </a:prstGeom>
          <a:noFill/>
          <a:ln/>
        </p:spPr>
        <p:txBody>
          <a:bodyPr wrap="square" rtlCol="0" anchor="ctr"/>
          <a:lstStyle/>
          <a:p>
            <a:pPr marL="0" indent="0">
              <a:lnSpc>
                <a:spcPct val="120000"/>
              </a:lnSpc>
              <a:buNone/>
            </a:pPr>
            <a:r>
              <a:rPr lang="en-US" sz="1100" dirty="0">
                <a:solidFill>
                  <a:srgbClr val="FFFFFF"/>
                </a:solidFill>
                <a:latin typeface="Calibri" pitchFamily="34" charset="0"/>
                <a:ea typeface="Calibri" pitchFamily="34" charset="-122"/>
                <a:cs typeface="Calibri" pitchFamily="34" charset="-120"/>
              </a:rPr>
              <a:t>Launch a loyalty/VIP programme to convert Regular customers into repeat buyers</a:t>
            </a:r>
            <a:endParaRPr lang="en-US" sz="1100" dirty="0"/>
          </a:p>
        </p:txBody>
      </p:sp>
      <p:sp>
        <p:nvSpPr>
          <p:cNvPr id="26" name="Text 20"/>
          <p:cNvSpPr/>
          <p:nvPr/>
        </p:nvSpPr>
        <p:spPr>
          <a:xfrm>
            <a:off x="7406640" y="4160520"/>
            <a:ext cx="365760" cy="365760"/>
          </a:xfrm>
          <a:prstGeom prst="rect">
            <a:avLst/>
          </a:prstGeom>
          <a:noFill/>
          <a:ln/>
        </p:spPr>
        <p:txBody>
          <a:bodyPr wrap="square" rtlCol="0" anchor="ctr"/>
          <a:lstStyle/>
          <a:p>
            <a:pPr marL="0" indent="0">
              <a:buNone/>
            </a:pPr>
            <a:r>
              <a:rPr lang="en-US" sz="1600" b="1" dirty="0">
                <a:solidFill>
                  <a:srgbClr val="F2994A"/>
                </a:solidFill>
                <a:latin typeface="Cambria" pitchFamily="34" charset="0"/>
                <a:ea typeface="Cambria" pitchFamily="34" charset="-122"/>
                <a:cs typeface="Cambria" pitchFamily="34" charset="-120"/>
              </a:rPr>
              <a:t>3</a:t>
            </a:r>
            <a:endParaRPr lang="en-US" sz="1600" dirty="0"/>
          </a:p>
        </p:txBody>
      </p:sp>
      <p:sp>
        <p:nvSpPr>
          <p:cNvPr id="27" name="Text 21"/>
          <p:cNvSpPr/>
          <p:nvPr/>
        </p:nvSpPr>
        <p:spPr>
          <a:xfrm>
            <a:off x="7818120" y="4160520"/>
            <a:ext cx="3657600" cy="685800"/>
          </a:xfrm>
          <a:prstGeom prst="rect">
            <a:avLst/>
          </a:prstGeom>
          <a:noFill/>
          <a:ln/>
        </p:spPr>
        <p:txBody>
          <a:bodyPr wrap="square" rtlCol="0" anchor="ctr"/>
          <a:lstStyle/>
          <a:p>
            <a:pPr marL="0" indent="0">
              <a:lnSpc>
                <a:spcPct val="120000"/>
              </a:lnSpc>
              <a:buNone/>
            </a:pPr>
            <a:r>
              <a:rPr lang="en-US" sz="1100" dirty="0">
                <a:solidFill>
                  <a:srgbClr val="FFFFFF"/>
                </a:solidFill>
                <a:latin typeface="Calibri" pitchFamily="34" charset="0"/>
                <a:ea typeface="Calibri" pitchFamily="34" charset="-122"/>
                <a:cs typeface="Calibri" pitchFamily="34" charset="-120"/>
              </a:rPr>
              <a:t>Investigate top return reasons at the product level to cut avoidable refunds</a:t>
            </a:r>
            <a:endParaRPr lang="en-US" sz="1100" dirty="0"/>
          </a:p>
        </p:txBody>
      </p:sp>
      <p:sp>
        <p:nvSpPr>
          <p:cNvPr id="28" name="Text 22"/>
          <p:cNvSpPr/>
          <p:nvPr/>
        </p:nvSpPr>
        <p:spPr>
          <a:xfrm>
            <a:off x="7406640" y="5029200"/>
            <a:ext cx="365760" cy="365760"/>
          </a:xfrm>
          <a:prstGeom prst="rect">
            <a:avLst/>
          </a:prstGeom>
          <a:noFill/>
          <a:ln/>
        </p:spPr>
        <p:txBody>
          <a:bodyPr wrap="square" rtlCol="0" anchor="ctr"/>
          <a:lstStyle/>
          <a:p>
            <a:pPr marL="0" indent="0">
              <a:buNone/>
            </a:pPr>
            <a:r>
              <a:rPr lang="en-US" sz="1600" b="1" dirty="0">
                <a:solidFill>
                  <a:srgbClr val="F2994A"/>
                </a:solidFill>
                <a:latin typeface="Cambria" pitchFamily="34" charset="0"/>
                <a:ea typeface="Cambria" pitchFamily="34" charset="-122"/>
                <a:cs typeface="Cambria" pitchFamily="34" charset="-120"/>
              </a:rPr>
              <a:t>4</a:t>
            </a:r>
            <a:endParaRPr lang="en-US" sz="1600" dirty="0"/>
          </a:p>
        </p:txBody>
      </p:sp>
      <p:sp>
        <p:nvSpPr>
          <p:cNvPr id="29" name="Text 23"/>
          <p:cNvSpPr/>
          <p:nvPr/>
        </p:nvSpPr>
        <p:spPr>
          <a:xfrm>
            <a:off x="7818120" y="5029200"/>
            <a:ext cx="3657600" cy="685800"/>
          </a:xfrm>
          <a:prstGeom prst="rect">
            <a:avLst/>
          </a:prstGeom>
          <a:noFill/>
          <a:ln/>
        </p:spPr>
        <p:txBody>
          <a:bodyPr wrap="square" rtlCol="0" anchor="ctr"/>
          <a:lstStyle/>
          <a:p>
            <a:pPr marL="0" indent="0">
              <a:lnSpc>
                <a:spcPct val="120000"/>
              </a:lnSpc>
              <a:buNone/>
            </a:pPr>
            <a:r>
              <a:rPr lang="en-US" sz="1100" dirty="0">
                <a:solidFill>
                  <a:srgbClr val="FFFFFF"/>
                </a:solidFill>
                <a:latin typeface="Calibri" pitchFamily="34" charset="0"/>
                <a:ea typeface="Calibri" pitchFamily="34" charset="-122"/>
                <a:cs typeface="Calibri" pitchFamily="34" charset="-120"/>
              </a:rPr>
              <a:t>Reallocate budget toward channels with the highest ROAS and lowest CAC</a:t>
            </a:r>
            <a:endParaRPr lang="en-US" sz="1100" dirty="0"/>
          </a:p>
        </p:txBody>
      </p:sp>
      <p:sp>
        <p:nvSpPr>
          <p:cNvPr id="30" name="Text 24"/>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B95A5"/>
                </a:solidFill>
                <a:latin typeface="Calibri" pitchFamily="34" charset="0"/>
                <a:ea typeface="Calibri" pitchFamily="34" charset="-122"/>
                <a:cs typeface="Calibri" pitchFamily="34" charset="-120"/>
              </a:rPr>
              <a:t>ShopNova E-Commerce Analytics</a:t>
            </a:r>
            <a:endParaRPr lang="en-US" sz="900" dirty="0"/>
          </a:p>
        </p:txBody>
      </p:sp>
      <p:sp>
        <p:nvSpPr>
          <p:cNvPr id="31" name="Text 25"/>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B95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029200" y="-2743200"/>
            <a:ext cx="5486400" cy="5486400"/>
          </a:xfrm>
          <a:prstGeom prst="ellipse">
            <a:avLst/>
          </a:prstGeom>
          <a:solidFill>
            <a:srgbClr val="121D33"/>
          </a:solidFill>
          <a:ln/>
        </p:spPr>
        <p:txBody>
          <a:bodyPr/>
          <a:lstStyle/>
          <a:p>
            <a:endParaRPr lang="en-IN"/>
          </a:p>
        </p:txBody>
      </p:sp>
      <p:sp>
        <p:nvSpPr>
          <p:cNvPr id="3" name="Text 1"/>
          <p:cNvSpPr/>
          <p:nvPr/>
        </p:nvSpPr>
        <p:spPr>
          <a:xfrm>
            <a:off x="822960" y="2651760"/>
            <a:ext cx="73152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4" name="Text 2"/>
          <p:cNvSpPr/>
          <p:nvPr/>
        </p:nvSpPr>
        <p:spPr>
          <a:xfrm>
            <a:off x="822960" y="3520440"/>
            <a:ext cx="7315200" cy="457200"/>
          </a:xfrm>
          <a:prstGeom prst="rect">
            <a:avLst/>
          </a:prstGeom>
          <a:noFill/>
          <a:ln/>
        </p:spPr>
        <p:txBody>
          <a:bodyPr wrap="square" rtlCol="0" anchor="ctr"/>
          <a:lstStyle/>
          <a:p>
            <a:pPr marL="0" indent="0">
              <a:buNone/>
            </a:pPr>
            <a:endParaRPr lang="en-US" sz="1500" dirty="0"/>
          </a:p>
        </p:txBody>
      </p:sp>
      <p:sp>
        <p:nvSpPr>
          <p:cNvPr id="5" name="Text 3"/>
          <p:cNvSpPr/>
          <p:nvPr/>
        </p:nvSpPr>
        <p:spPr>
          <a:xfrm>
            <a:off x="822960" y="6126480"/>
            <a:ext cx="9144000" cy="320040"/>
          </a:xfrm>
          <a:prstGeom prst="rect">
            <a:avLst/>
          </a:prstGeom>
          <a:noFill/>
          <a:ln/>
        </p:spPr>
        <p:txBody>
          <a:bodyPr wrap="square" rtlCol="0" anchor="ctr"/>
          <a:lstStyle/>
          <a:p>
            <a:pPr marL="0" indent="0">
              <a:buNone/>
            </a:pPr>
            <a:r>
              <a:rPr lang="en-US" sz="1050" dirty="0">
                <a:solidFill>
                  <a:srgbClr val="8B95A5"/>
                </a:solidFill>
                <a:latin typeface="Calibri" pitchFamily="34" charset="0"/>
                <a:ea typeface="Calibri" pitchFamily="34" charset="-122"/>
                <a:cs typeface="Calibri" pitchFamily="34" charset="-120"/>
              </a:rPr>
              <a:t>ShopNova E-Commerce Analytics Project  ·  SQL · Excel · Tableau · Power BI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1254</Words>
  <Application>Microsoft Office PowerPoint</Application>
  <PresentationFormat>Widescreen</PresentationFormat>
  <Paragraphs>223</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Vaishnavi Thakur</cp:lastModifiedBy>
  <cp:revision>13</cp:revision>
  <dcterms:created xsi:type="dcterms:W3CDTF">2026-08-27T06:36:56Z</dcterms:created>
  <dcterms:modified xsi:type="dcterms:W3CDTF">2026-08-28T12:05:15Z</dcterms:modified>
</cp:coreProperties>
</file>